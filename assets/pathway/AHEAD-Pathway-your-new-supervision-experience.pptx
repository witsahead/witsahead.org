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AHEAD Pathway, your new postgraduate supervision experience, from the Wits AHEAD Research Group at the Wits School of Education. This short guide walks you through everything, from setting up the app on your phone to receiving your first round of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Pathway was designed by your supervisor, Professor Emmanuel Ojo. He has served the Wits School of Education for two decades, much of that time in the postgraduate portfolio, including in senior leadership. What you are getting is that understanding of the postgraduate ecosystem, at Wits, nationally and globally, shaped into one place: your record, your documents, your feedback, your meetings and your messages. Nothing gets lost in email again. Every step is dated and kept, and it counts towards your annual progress report. You have a front-row seat: the platform is improved every week by the Director and the developers, and your experience shapes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most important change. From now on, feedback on your chapters and proposals arrives on the portal, not by email. Every round comes with the reviewed documents, your actions to tick off, readings to open, and a recording you can listen to while you read. Messages to and from the Director are on the portal too, with a notification on your phone. Email will still tell you that something is waiting, but the work itself happens in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group's website, witsahead dot org, speaks six languages: English, French, Spanish, Portuguese, Chinese and isiZulu. Every morning at half past six it publishes the daily briefing: the day's news on artificial intelligence, data and human capability in higher education, checked at source, three to four minutes to read, or to listen to. Every second Thursday comes The AHEAD Fortnightly, and there are project feeds, researcher profiles and the group's global footprint. Install it on your phone like an app, and it is with you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install Pathway on your phone, and bookmark it. On an iPhone or iPad, open pathway dot witsahead dot org in Safari, tap Share, then Add to Home Screen, then Add. On Android, open it in Chrome, tap the menu, then Add to Home screen. On a computer, open it in Chrome, Edge or Safari and click the install icon in the address bar. Bookmark it as well, in every browser you use. Any phone, any platform: with the app installed you will never miss a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sign in with a code. Open Pathway from its icon and enter your university email address. A one-time code is emailed to you within a minute. Type it in, and you are in. There is no password to remember. If the code does not arrive, check your junk folder, then write to the Director.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turn on notifications, once. Inside the app, tap the bell, press Turn on, and tap Allow when your phone asks. From then on, feedback, messages, calls and meeting records ring on your phone, even when the app is closed, and a small number on the icon shows what is waiting. You will never miss a message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are in, the overview shows your whole journey at a glance: your milestones from registration to graduation, how far along you are, your registration for the year, your documents, and anything waiting for you. On your first visit, complete your profile and the consent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Documents, you upload your work: a proposal, a chapter, a full draft, corrections or an ethics form. Each upload gets a version number, so we both know exactly which version we are talking about. The Director is told the moment it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round of feedback. At the top is the date and what it is about. You can read the comments and listen to them at the same time. Below are the reviewed documents to download, so you can work online or offline and upload the next version. Then come your actions: tick each one off as you do it, and watch the round turn green when it is complete. The readings the Director attached open straight from the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between you and your supervisor is logged with its date: every upload, every round of feedback, every action you complete, every message, meeting and call. Your progress ring shows how many actions you have completed. And when the School asks for the annual progress report each June and July, one click on Open my supervision record gives you a printable record of the whole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reading room lets you search the literature without leaving your portal. Type a question or a topic and open it in Google Scholar, Scopus, Consensus or Semantic Scholar. Keep a reading with one line, and mark it read when you are done. Readings the Director attaches to your feedback appear here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Messages, meetings and calls all live on the portal. Write to the Director and it rings on his phone as it rings on yours. Meetings go into both calendars, and a short monthly check-in keeps him informed of how you are getting on. Voice and video calls happen inside Pathway, on your phone or your computer, and a written record with the summary, decisions and actions follows every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Stay connected with the group. Follow Wits AHEAD on the WhatsApp channel, LinkedIn, X, Instagram and Facebook, and keep the website on your phone. The daily briefing takes three to four minutes every morning, and you can listen to it read aloud. Follow the channels, install the website as an app, and nothing passes you 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week, four things. Install Pathway on your phone, bookmark it, and sign in with your code. Turn on notifications in the app. Complete your profile and the consent statement, and upload your proof of registration. Then upload your latest chapter or proposal, so that your first round of feedback can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front row of postgraduate supervision. Open pathway dot witsahead dot org, and we will see you on the platform. If anything is unclear, write to Director at WitsAHEAD dot org. The platform is improved every week, so tell us what would help you.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FFFF"/>
          </a:solidFill>
          <a:ln w="12700">
            <a:solidFill>
              <a:srgbClr val="FFFFFF"/>
            </a:solidFill>
            <a:prstDash val="solid"/>
          </a:ln>
        </p:spPr>
      </p:sp>
      <p:sp>
        <p:nvSpPr>
          <p:cNvPr id="3" name="Shape 1"/>
          <p:cNvSpPr/>
          <p:nvPr/>
        </p:nvSpPr>
        <p:spPr>
          <a:xfrm>
            <a:off x="0" y="923544"/>
            <a:ext cx="12188952" cy="36576"/>
          </a:xfrm>
          <a:prstGeom prst="rect">
            <a:avLst/>
          </a:prstGeom>
          <a:solidFill>
            <a:srgbClr val="B79A5E"/>
          </a:solidFill>
          <a:ln w="12700">
            <a:solidFill>
              <a:srgbClr val="B79A5E"/>
            </a:solidFill>
            <a:prstDash val="solid"/>
          </a:ln>
        </p:spPr>
      </p:sp>
      <p:pic>
        <p:nvPicPr>
          <p:cNvPr id="4" name="Image 0" descr="/Users/emmanuel_ojo/Library/CloudStorage/Dropbox/Claude Cowork/04 Grants &amp; Fellowships/Wits AHEAD Research Group/10 Website &amp; Daily Briefing/assets/wits-wsoe-lockup.png">    </p:cNvPr>
          <p:cNvPicPr>
            <a:picLocks noChangeAspect="1"/>
          </p:cNvPicPr>
          <p:nvPr/>
        </p:nvPicPr>
        <p:blipFill>
          <a:blip r:embed="rId2"/>
          <a:stretch>
            <a:fillRect/>
          </a:stretch>
        </p:blipFill>
        <p:spPr>
          <a:xfrm>
            <a:off x="731520" y="182880"/>
            <a:ext cx="3286461" cy="594360"/>
          </a:xfrm>
          <a:prstGeom prst="rect">
            <a:avLst/>
          </a:prstGeom>
        </p:spPr>
      </p:pic>
      <p:sp>
        <p:nvSpPr>
          <p:cNvPr id="5" name="Shape 2"/>
          <p:cNvSpPr/>
          <p:nvPr/>
        </p:nvSpPr>
        <p:spPr>
          <a:xfrm>
            <a:off x="4343400" y="182880"/>
            <a:ext cx="13716" cy="594360"/>
          </a:xfrm>
          <a:prstGeom prst="rect">
            <a:avLst/>
          </a:prstGeom>
          <a:solidFill>
            <a:srgbClr val="003B5C">
              <a:alpha val="50000"/>
            </a:srgbClr>
          </a:solidFill>
          <a:ln w="12700">
            <a:solidFill>
              <a:srgbClr val="003B5C">
                <a:alpha val="50000"/>
              </a:srgbClr>
            </a:solidFill>
            <a:prstDash val="solid"/>
          </a:ln>
        </p:spPr>
      </p:sp>
      <p:pic>
        <p:nvPicPr>
          <p:cNvPr id="6" name="Image 1" descr="/Users/emmanuel_ojo/Library/CloudStorage/Dropbox/Claude Cowork/04 Grants &amp; Fellowships/Wits AHEAD Research Group/10 Website &amp; Daily Briefing/site/assets/logo-600.png">    </p:cNvPr>
          <p:cNvPicPr>
            <a:picLocks noChangeAspect="1"/>
          </p:cNvPicPr>
          <p:nvPr/>
        </p:nvPicPr>
        <p:blipFill>
          <a:blip r:embed="rId3"/>
          <a:stretch>
            <a:fillRect/>
          </a:stretch>
        </p:blipFill>
        <p:spPr>
          <a:xfrm>
            <a:off x="4526280" y="182880"/>
            <a:ext cx="594360" cy="594360"/>
          </a:xfrm>
          <a:prstGeom prst="rect">
            <a:avLst/>
          </a:prstGeom>
        </p:spPr>
      </p:pic>
      <p:sp>
        <p:nvSpPr>
          <p:cNvPr id="7" name="Text 3"/>
          <p:cNvSpPr txBox="1"/>
          <p:nvPr/>
        </p:nvSpPr>
        <p:spPr>
          <a:xfrm>
            <a:off x="5257800" y="109728"/>
            <a:ext cx="4206240" cy="777240"/>
          </a:xfrm>
          <a:prstGeom prst="rect">
            <a:avLst/>
          </a:prstGeom>
          <a:noFill/>
          <a:ln/>
        </p:spPr>
        <p:txBody>
          <a:bodyPr wrap="square" lIns="0" tIns="0" rIns="0" bIns="0" rtlCol="0" anchor="ctr"/>
          <a:lstStyle/>
          <a:p>
            <a:pPr indent="0" marL="0">
              <a:lnSpc>
                <a:spcPct val="95000"/>
              </a:lnSpc>
              <a:buNone/>
            </a:pPr>
            <a:r>
              <a:rPr lang="en-US" sz="900" b="1" spc="600" kern="0" dirty="0">
                <a:solidFill>
                  <a:srgbClr val="B79A5E"/>
                </a:solidFill>
                <a:latin typeface="Calibri" pitchFamily="34" charset="0"/>
                <a:ea typeface="Calibri" pitchFamily="34" charset="-122"/>
                <a:cs typeface="Calibri" pitchFamily="34" charset="-120"/>
              </a:rPr>
              <a:t>WITS</a:t>
            </a:r>
            <a:endParaRPr lang="en-US" sz="900" dirty="0"/>
          </a:p>
          <a:p>
            <a:pPr indent="0" marL="0">
              <a:lnSpc>
                <a:spcPct val="95000"/>
              </a:lnSpc>
              <a:buNone/>
            </a:pPr>
            <a:r>
              <a:rPr lang="en-US" sz="2400" b="1" dirty="0">
                <a:solidFill>
                  <a:srgbClr val="003B5C"/>
                </a:solidFill>
                <a:latin typeface="Calibri" pitchFamily="34" charset="0"/>
                <a:ea typeface="Calibri" pitchFamily="34" charset="-122"/>
                <a:cs typeface="Calibri" pitchFamily="34" charset="-120"/>
              </a:rPr>
              <a:t>AHEAD</a:t>
            </a:r>
            <a:endParaRPr lang="en-US" sz="900" dirty="0"/>
          </a:p>
          <a:p>
            <a:pPr indent="0" marL="0">
              <a:lnSpc>
                <a:spcPct val="95000"/>
              </a:lnSpc>
              <a:buNone/>
            </a:pPr>
            <a:r>
              <a:rPr lang="en-US" sz="850" dirty="0">
                <a:solidFill>
                  <a:srgbClr val="333333"/>
                </a:solidFill>
                <a:latin typeface="Calibri" pitchFamily="34" charset="0"/>
                <a:ea typeface="Calibri" pitchFamily="34" charset="-122"/>
                <a:cs typeface="Calibri" pitchFamily="34" charset="-120"/>
              </a:rPr>
              <a:t>Research Group for Advancing Human Capabilities through Education, Analytics and Development</a:t>
            </a:r>
            <a:endParaRPr lang="en-US" sz="900" dirty="0"/>
          </a:p>
        </p:txBody>
      </p:sp>
      <p:sp>
        <p:nvSpPr>
          <p:cNvPr id="9" name="Text 4"/>
          <p:cNvSpPr txBox="1"/>
          <p:nvPr/>
        </p:nvSpPr>
        <p:spPr>
          <a:xfrm>
            <a:off x="731520" y="1783080"/>
            <a:ext cx="8229600" cy="365760"/>
          </a:xfrm>
          <a:prstGeom prst="rect">
            <a:avLst/>
          </a:prstGeom>
          <a:noFill/>
          <a:ln/>
        </p:spPr>
        <p:txBody>
          <a:bodyPr wrap="square" lIns="0" tIns="0" rIns="0" bIns="0" rtlCol="0" anchor="ctr"/>
          <a:lstStyle/>
          <a:p>
            <a:pPr indent="0" marL="0">
              <a:buNone/>
            </a:pPr>
            <a:r>
              <a:rPr lang="en-US" sz="1200" b="1" spc="400" kern="0" dirty="0">
                <a:solidFill>
                  <a:srgbClr val="B79A5E"/>
                </a:solidFill>
                <a:latin typeface="Calibri" pitchFamily="34" charset="0"/>
                <a:ea typeface="Calibri" pitchFamily="34" charset="-122"/>
                <a:cs typeface="Calibri" pitchFamily="34" charset="-120"/>
              </a:rPr>
              <a:t>RESEARCH GROUP · WITS SCHOOL OF EDUCATION</a:t>
            </a:r>
            <a:endParaRPr lang="en-US" sz="1200" dirty="0"/>
          </a:p>
        </p:txBody>
      </p:sp>
      <p:sp>
        <p:nvSpPr>
          <p:cNvPr id="10" name="Text 5"/>
          <p:cNvSpPr txBox="1"/>
          <p:nvPr/>
        </p:nvSpPr>
        <p:spPr>
          <a:xfrm>
            <a:off x="731520" y="2194560"/>
            <a:ext cx="9144000" cy="137160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AHEAD Pathway</a:t>
            </a:r>
            <a:endParaRPr lang="en-US" sz="6000" dirty="0"/>
          </a:p>
        </p:txBody>
      </p:sp>
      <p:sp>
        <p:nvSpPr>
          <p:cNvPr id="11" name="Text 6"/>
          <p:cNvSpPr txBox="1"/>
          <p:nvPr/>
        </p:nvSpPr>
        <p:spPr>
          <a:xfrm>
            <a:off x="731520" y="3611880"/>
            <a:ext cx="9144000" cy="731520"/>
          </a:xfrm>
          <a:prstGeom prst="rect">
            <a:avLst/>
          </a:prstGeom>
          <a:noFill/>
          <a:ln/>
        </p:spPr>
        <p:txBody>
          <a:bodyPr wrap="square" lIns="0" tIns="0" rIns="0" bIns="0" rtlCol="0" anchor="ctr"/>
          <a:lstStyle/>
          <a:p>
            <a:pPr indent="0" marL="0">
              <a:buNone/>
            </a:pPr>
            <a:r>
              <a:rPr lang="en-US" sz="2800" dirty="0">
                <a:solidFill>
                  <a:srgbClr val="B8CBDA"/>
                </a:solidFill>
                <a:latin typeface="Calibri" pitchFamily="34" charset="0"/>
                <a:ea typeface="Calibri" pitchFamily="34" charset="-122"/>
                <a:cs typeface="Calibri" pitchFamily="34" charset="-120"/>
              </a:rPr>
              <a:t>Your new postgraduate supervision experience</a:t>
            </a:r>
            <a:endParaRPr lang="en-US" sz="2800" dirty="0"/>
          </a:p>
        </p:txBody>
      </p:sp>
      <p:sp>
        <p:nvSpPr>
          <p:cNvPr id="12" name="Text 7"/>
          <p:cNvSpPr txBox="1"/>
          <p:nvPr/>
        </p:nvSpPr>
        <p:spPr>
          <a:xfrm>
            <a:off x="731520" y="5943600"/>
            <a:ext cx="8686800" cy="457200"/>
          </a:xfrm>
          <a:prstGeom prst="rect">
            <a:avLst/>
          </a:prstGeom>
          <a:noFill/>
          <a:ln/>
        </p:spPr>
        <p:txBody>
          <a:bodyPr wrap="square" lIns="0" tIns="0" rIns="0" bIns="0" rtlCol="0" anchor="ctr"/>
          <a:lstStyle/>
          <a:p>
            <a:pPr indent="0" marL="0">
              <a:buNone/>
            </a:pPr>
            <a:r>
              <a:rPr lang="en-US" sz="1200" dirty="0">
                <a:solidFill>
                  <a:srgbClr val="B8CBDA"/>
                </a:solidFill>
                <a:latin typeface="Calibri" pitchFamily="34" charset="0"/>
                <a:ea typeface="Calibri" pitchFamily="34" charset="-122"/>
                <a:cs typeface="Calibri" pitchFamily="34" charset="-120"/>
              </a:rPr>
              <a:t>For candidates supervised within the Wits AHEAD Research Group · from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FFFF"/>
          </a:solidFill>
          <a:ln w="12700">
            <a:solidFill>
              <a:srgbClr val="FFFFFF"/>
            </a:solidFill>
            <a:prstDash val="solid"/>
          </a:ln>
        </p:spPr>
      </p:sp>
      <p:sp>
        <p:nvSpPr>
          <p:cNvPr id="3" name="Shape 1"/>
          <p:cNvSpPr/>
          <p:nvPr/>
        </p:nvSpPr>
        <p:spPr>
          <a:xfrm>
            <a:off x="0" y="923544"/>
            <a:ext cx="12188952" cy="36576"/>
          </a:xfrm>
          <a:prstGeom prst="rect">
            <a:avLst/>
          </a:prstGeom>
          <a:solidFill>
            <a:srgbClr val="B79A5E"/>
          </a:solidFill>
          <a:ln w="12700">
            <a:solidFill>
              <a:srgbClr val="B79A5E"/>
            </a:solidFill>
            <a:prstDash val="solid"/>
          </a:ln>
        </p:spPr>
      </p:sp>
      <p:pic>
        <p:nvPicPr>
          <p:cNvPr id="4" name="Image 0" descr="/Users/emmanuel_ojo/Library/CloudStorage/Dropbox/Claude Cowork/04 Grants &amp; Fellowships/Wits AHEAD Research Group/10 Website &amp; Daily Briefing/assets/wits-wsoe-lockup.png">    </p:cNvPr>
          <p:cNvPicPr>
            <a:picLocks noChangeAspect="1"/>
          </p:cNvPicPr>
          <p:nvPr/>
        </p:nvPicPr>
        <p:blipFill>
          <a:blip r:embed="rId2"/>
          <a:stretch>
            <a:fillRect/>
          </a:stretch>
        </p:blipFill>
        <p:spPr>
          <a:xfrm>
            <a:off x="731520" y="182880"/>
            <a:ext cx="3286461" cy="594360"/>
          </a:xfrm>
          <a:prstGeom prst="rect">
            <a:avLst/>
          </a:prstGeom>
        </p:spPr>
      </p:pic>
      <p:sp>
        <p:nvSpPr>
          <p:cNvPr id="5" name="Shape 2"/>
          <p:cNvSpPr/>
          <p:nvPr/>
        </p:nvSpPr>
        <p:spPr>
          <a:xfrm>
            <a:off x="4343400" y="182880"/>
            <a:ext cx="13716" cy="594360"/>
          </a:xfrm>
          <a:prstGeom prst="rect">
            <a:avLst/>
          </a:prstGeom>
          <a:solidFill>
            <a:srgbClr val="003B5C">
              <a:alpha val="50000"/>
            </a:srgbClr>
          </a:solidFill>
          <a:ln w="12700">
            <a:solidFill>
              <a:srgbClr val="003B5C">
                <a:alpha val="50000"/>
              </a:srgbClr>
            </a:solidFill>
            <a:prstDash val="solid"/>
          </a:ln>
        </p:spPr>
      </p:sp>
      <p:pic>
        <p:nvPicPr>
          <p:cNvPr id="6" name="Image 1" descr="/Users/emmanuel_ojo/Library/CloudStorage/Dropbox/Claude Cowork/04 Grants &amp; Fellowships/Wits AHEAD Research Group/10 Website &amp; Daily Briefing/site/assets/logo-600.png">    </p:cNvPr>
          <p:cNvPicPr>
            <a:picLocks noChangeAspect="1"/>
          </p:cNvPicPr>
          <p:nvPr/>
        </p:nvPicPr>
        <p:blipFill>
          <a:blip r:embed="rId3"/>
          <a:stretch>
            <a:fillRect/>
          </a:stretch>
        </p:blipFill>
        <p:spPr>
          <a:xfrm>
            <a:off x="4526280" y="182880"/>
            <a:ext cx="594360" cy="594360"/>
          </a:xfrm>
          <a:prstGeom prst="rect">
            <a:avLst/>
          </a:prstGeom>
        </p:spPr>
      </p:pic>
      <p:sp>
        <p:nvSpPr>
          <p:cNvPr id="7" name="Text 3"/>
          <p:cNvSpPr txBox="1"/>
          <p:nvPr/>
        </p:nvSpPr>
        <p:spPr>
          <a:xfrm>
            <a:off x="5257800" y="109728"/>
            <a:ext cx="4206240" cy="777240"/>
          </a:xfrm>
          <a:prstGeom prst="rect">
            <a:avLst/>
          </a:prstGeom>
          <a:noFill/>
          <a:ln/>
        </p:spPr>
        <p:txBody>
          <a:bodyPr wrap="square" lIns="0" tIns="0" rIns="0" bIns="0" rtlCol="0" anchor="ctr"/>
          <a:lstStyle/>
          <a:p>
            <a:pPr indent="0" marL="0">
              <a:lnSpc>
                <a:spcPct val="95000"/>
              </a:lnSpc>
              <a:buNone/>
            </a:pPr>
            <a:r>
              <a:rPr lang="en-US" sz="900" b="1" spc="600" kern="0" dirty="0">
                <a:solidFill>
                  <a:srgbClr val="B79A5E"/>
                </a:solidFill>
                <a:latin typeface="Calibri" pitchFamily="34" charset="0"/>
                <a:ea typeface="Calibri" pitchFamily="34" charset="-122"/>
                <a:cs typeface="Calibri" pitchFamily="34" charset="-120"/>
              </a:rPr>
              <a:t>WITS</a:t>
            </a:r>
            <a:endParaRPr lang="en-US" sz="900" dirty="0"/>
          </a:p>
          <a:p>
            <a:pPr indent="0" marL="0">
              <a:lnSpc>
                <a:spcPct val="95000"/>
              </a:lnSpc>
              <a:buNone/>
            </a:pPr>
            <a:r>
              <a:rPr lang="en-US" sz="2400" b="1" dirty="0">
                <a:solidFill>
                  <a:srgbClr val="003B5C"/>
                </a:solidFill>
                <a:latin typeface="Calibri" pitchFamily="34" charset="0"/>
                <a:ea typeface="Calibri" pitchFamily="34" charset="-122"/>
                <a:cs typeface="Calibri" pitchFamily="34" charset="-120"/>
              </a:rPr>
              <a:t>AHEAD</a:t>
            </a:r>
            <a:endParaRPr lang="en-US" sz="900" dirty="0"/>
          </a:p>
          <a:p>
            <a:pPr indent="0" marL="0">
              <a:lnSpc>
                <a:spcPct val="95000"/>
              </a:lnSpc>
              <a:buNone/>
            </a:pPr>
            <a:r>
              <a:rPr lang="en-US" sz="850" dirty="0">
                <a:solidFill>
                  <a:srgbClr val="333333"/>
                </a:solidFill>
                <a:latin typeface="Calibri" pitchFamily="34" charset="0"/>
                <a:ea typeface="Calibri" pitchFamily="34" charset="-122"/>
                <a:cs typeface="Calibri" pitchFamily="34" charset="-120"/>
              </a:rPr>
              <a:t>Research Group for Advancing Human Capabilities through Education, Analytics and Development</a:t>
            </a:r>
            <a:endParaRPr lang="en-US" sz="900" dirty="0"/>
          </a:p>
        </p:txBody>
      </p:sp>
      <p:sp>
        <p:nvSpPr>
          <p:cNvPr id="9" name="Text 4"/>
          <p:cNvSpPr txBox="1"/>
          <p:nvPr/>
        </p:nvSpPr>
        <p:spPr>
          <a:xfrm>
            <a:off x="731520" y="1325880"/>
            <a:ext cx="9601200" cy="320040"/>
          </a:xfrm>
          <a:prstGeom prst="rect">
            <a:avLst/>
          </a:prstGeom>
          <a:noFill/>
          <a:ln/>
        </p:spPr>
        <p:txBody>
          <a:bodyPr wrap="square" lIns="0" tIns="0" rIns="0" bIns="0" rtlCol="0" anchor="ctr"/>
          <a:lstStyle/>
          <a:p>
            <a:pPr indent="0" marL="0">
              <a:buNone/>
            </a:pPr>
            <a:r>
              <a:rPr lang="en-US" sz="1200" b="1" spc="400" kern="0" dirty="0">
                <a:solidFill>
                  <a:srgbClr val="B79A5E"/>
                </a:solidFill>
                <a:latin typeface="Calibri" pitchFamily="34" charset="0"/>
                <a:ea typeface="Calibri" pitchFamily="34" charset="-122"/>
                <a:cs typeface="Calibri" pitchFamily="34" charset="-120"/>
              </a:rPr>
              <a:t>WHY THIS EXISTS</a:t>
            </a:r>
            <a:endParaRPr lang="en-US" sz="1200" dirty="0"/>
          </a:p>
        </p:txBody>
      </p:sp>
      <p:sp>
        <p:nvSpPr>
          <p:cNvPr id="10" name="Text 5"/>
          <p:cNvSpPr txBox="1"/>
          <p:nvPr/>
        </p:nvSpPr>
        <p:spPr>
          <a:xfrm>
            <a:off x="10177272" y="6400800"/>
            <a:ext cx="1280160" cy="274320"/>
          </a:xfrm>
          <a:prstGeom prst="rect">
            <a:avLst/>
          </a:prstGeom>
          <a:noFill/>
          <a:ln/>
        </p:spPr>
        <p:txBody>
          <a:bodyPr wrap="square" lIns="0" tIns="0" rIns="0" bIns="0" rtlCol="0" anchor="ctr"/>
          <a:lstStyle/>
          <a:p>
            <a:pPr algn="r" indent="0" marL="0">
              <a:buNone/>
            </a:pPr>
            <a:r>
              <a:rPr lang="en-US" sz="1000" dirty="0">
                <a:solidFill>
                  <a:srgbClr val="B8CBDA"/>
                </a:solidFill>
                <a:latin typeface="Calibri" pitchFamily="34" charset="0"/>
                <a:ea typeface="Calibri" pitchFamily="34" charset="-122"/>
                <a:cs typeface="Calibri" pitchFamily="34" charset="-120"/>
              </a:rPr>
              <a:t>2 / 16</a:t>
            </a:r>
            <a:endParaRPr lang="en-US" sz="1000" dirty="0"/>
          </a:p>
        </p:txBody>
      </p:sp>
      <p:sp>
        <p:nvSpPr>
          <p:cNvPr id="11" name="Text 6"/>
          <p:cNvSpPr txBox="1"/>
          <p:nvPr/>
        </p:nvSpPr>
        <p:spPr>
          <a:xfrm>
            <a:off x="731520" y="1618488"/>
            <a:ext cx="10607040" cy="91440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Two decades in the School, shaped into your experience</a:t>
            </a:r>
            <a:endParaRPr lang="en-US" sz="3400" dirty="0"/>
          </a:p>
        </p:txBody>
      </p:sp>
      <p:sp>
        <p:nvSpPr>
          <p:cNvPr id="12" name="Shape 7"/>
          <p:cNvSpPr/>
          <p:nvPr/>
        </p:nvSpPr>
        <p:spPr>
          <a:xfrm>
            <a:off x="731520" y="2532888"/>
            <a:ext cx="731520" cy="45720"/>
          </a:xfrm>
          <a:prstGeom prst="rect">
            <a:avLst/>
          </a:prstGeom>
          <a:solidFill>
            <a:srgbClr val="B79A5E"/>
          </a:solidFill>
          <a:ln w="12700">
            <a:solidFill>
              <a:srgbClr val="B79A5E"/>
            </a:solidFill>
            <a:prstDash val="solid"/>
          </a:ln>
        </p:spPr>
      </p:sp>
      <p:sp>
        <p:nvSpPr>
          <p:cNvPr id="13" name="Text 8"/>
          <p:cNvSpPr txBox="1"/>
          <p:nvPr/>
        </p:nvSpPr>
        <p:spPr>
          <a:xfrm>
            <a:off x="731520" y="2743200"/>
            <a:ext cx="10607040" cy="384048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900" dirty="0">
                <a:solidFill>
                  <a:srgbClr val="EAF1F7"/>
                </a:solidFill>
                <a:latin typeface="Calibri" pitchFamily="34" charset="0"/>
                <a:ea typeface="Calibri" pitchFamily="34" charset="-122"/>
                <a:cs typeface="Calibri" pitchFamily="34" charset="-120"/>
              </a:rPr>
              <a:t>Professor Emmanuel Ojo has served the Wits School of Education for two decades, much of it in the postgraduate portfolio, including in senior leadership.</a:t>
            </a:r>
            <a:endParaRPr lang="en-US" sz="1900" dirty="0"/>
          </a:p>
          <a:p>
            <a:pPr marL="342900" indent="-342900">
              <a:lnSpc>
                <a:spcPct val="115000"/>
              </a:lnSpc>
              <a:spcAft>
                <a:spcPts val="1400"/>
              </a:spcAft>
              <a:buSzPct val="100000"/>
              <a:buChar char="●"/>
            </a:pPr>
            <a:r>
              <a:rPr lang="en-US" sz="1900" dirty="0">
                <a:solidFill>
                  <a:srgbClr val="EAF1F7"/>
                </a:solidFill>
                <a:latin typeface="Calibri" pitchFamily="34" charset="0"/>
                <a:ea typeface="Calibri" pitchFamily="34" charset="-122"/>
                <a:cs typeface="Calibri" pitchFamily="34" charset="-120"/>
              </a:rPr>
              <a:t>Pathway carries that understanding of the postgraduate ecosystem, at Wits, nationally and globally, into one place: your record, your documents, your feedback, your meetings and your messages.</a:t>
            </a:r>
            <a:endParaRPr lang="en-US" sz="1900" dirty="0"/>
          </a:p>
          <a:p>
            <a:pPr marL="342900" indent="-342900">
              <a:lnSpc>
                <a:spcPct val="115000"/>
              </a:lnSpc>
              <a:spcAft>
                <a:spcPts val="1400"/>
              </a:spcAft>
              <a:buSzPct val="100000"/>
              <a:buChar char="●"/>
            </a:pPr>
            <a:r>
              <a:rPr lang="en-US" sz="1900" dirty="0">
                <a:solidFill>
                  <a:srgbClr val="EAF1F7"/>
                </a:solidFill>
                <a:latin typeface="Calibri" pitchFamily="34" charset="0"/>
                <a:ea typeface="Calibri" pitchFamily="34" charset="-122"/>
                <a:cs typeface="Calibri" pitchFamily="34" charset="-120"/>
              </a:rPr>
              <a:t>Nothing gets lost in email again. Every step is dated and kept, and it counts towards your annual progress report.</a:t>
            </a:r>
            <a:endParaRPr lang="en-US" sz="1900" dirty="0"/>
          </a:p>
          <a:p>
            <a:pPr marL="342900" indent="-342900">
              <a:lnSpc>
                <a:spcPct val="115000"/>
              </a:lnSpc>
              <a:spcAft>
                <a:spcPts val="1400"/>
              </a:spcAft>
              <a:buSzPct val="100000"/>
              <a:buChar char="●"/>
            </a:pPr>
            <a:r>
              <a:rPr lang="en-US" sz="1900" dirty="0">
                <a:solidFill>
                  <a:srgbClr val="EAF1F7"/>
                </a:solidFill>
                <a:latin typeface="Calibri" pitchFamily="34" charset="0"/>
                <a:ea typeface="Calibri" pitchFamily="34" charset="-122"/>
                <a:cs typeface="Calibri" pitchFamily="34" charset="-120"/>
              </a:rPr>
              <a:t>You have a front-row seat: the platform is improved every week by the Director and the developers, and your experience shapes it.</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FFFF"/>
          </a:solidFill>
          <a:ln w="12700">
            <a:solidFill>
              <a:srgbClr val="FFFFFF"/>
            </a:solidFill>
            <a:prstDash val="solid"/>
          </a:ln>
        </p:spPr>
      </p:sp>
      <p:sp>
        <p:nvSpPr>
          <p:cNvPr id="3" name="Shape 1"/>
          <p:cNvSpPr/>
          <p:nvPr/>
        </p:nvSpPr>
        <p:spPr>
          <a:xfrm>
            <a:off x="0" y="923544"/>
            <a:ext cx="12188952" cy="36576"/>
          </a:xfrm>
          <a:prstGeom prst="rect">
            <a:avLst/>
          </a:prstGeom>
          <a:solidFill>
            <a:srgbClr val="B79A5E"/>
          </a:solidFill>
          <a:ln w="12700">
            <a:solidFill>
              <a:srgbClr val="B79A5E"/>
            </a:solidFill>
            <a:prstDash val="solid"/>
          </a:ln>
        </p:spPr>
      </p:sp>
      <p:pic>
        <p:nvPicPr>
          <p:cNvPr id="4" name="Image 0" descr="/Users/emmanuel_ojo/Library/CloudStorage/Dropbox/Claude Cowork/04 Grants &amp; Fellowships/Wits AHEAD Research Group/10 Website &amp; Daily Briefing/assets/wits-wsoe-lockup.png">    </p:cNvPr>
          <p:cNvPicPr>
            <a:picLocks noChangeAspect="1"/>
          </p:cNvPicPr>
          <p:nvPr/>
        </p:nvPicPr>
        <p:blipFill>
          <a:blip r:embed="rId2"/>
          <a:stretch>
            <a:fillRect/>
          </a:stretch>
        </p:blipFill>
        <p:spPr>
          <a:xfrm>
            <a:off x="731520" y="182880"/>
            <a:ext cx="3286461" cy="594360"/>
          </a:xfrm>
          <a:prstGeom prst="rect">
            <a:avLst/>
          </a:prstGeom>
        </p:spPr>
      </p:pic>
      <p:sp>
        <p:nvSpPr>
          <p:cNvPr id="5" name="Shape 2"/>
          <p:cNvSpPr/>
          <p:nvPr/>
        </p:nvSpPr>
        <p:spPr>
          <a:xfrm>
            <a:off x="4343400" y="182880"/>
            <a:ext cx="13716" cy="594360"/>
          </a:xfrm>
          <a:prstGeom prst="rect">
            <a:avLst/>
          </a:prstGeom>
          <a:solidFill>
            <a:srgbClr val="003B5C">
              <a:alpha val="50000"/>
            </a:srgbClr>
          </a:solidFill>
          <a:ln w="12700">
            <a:solidFill>
              <a:srgbClr val="003B5C">
                <a:alpha val="50000"/>
              </a:srgbClr>
            </a:solidFill>
            <a:prstDash val="solid"/>
          </a:ln>
        </p:spPr>
      </p:sp>
      <p:pic>
        <p:nvPicPr>
          <p:cNvPr id="6" name="Image 1" descr="/Users/emmanuel_ojo/Library/CloudStorage/Dropbox/Claude Cowork/04 Grants &amp; Fellowships/Wits AHEAD Research Group/10 Website &amp; Daily Briefing/site/assets/logo-600.png">    </p:cNvPr>
          <p:cNvPicPr>
            <a:picLocks noChangeAspect="1"/>
          </p:cNvPicPr>
          <p:nvPr/>
        </p:nvPicPr>
        <p:blipFill>
          <a:blip r:embed="rId3"/>
          <a:stretch>
            <a:fillRect/>
          </a:stretch>
        </p:blipFill>
        <p:spPr>
          <a:xfrm>
            <a:off x="4526280" y="182880"/>
            <a:ext cx="594360" cy="594360"/>
          </a:xfrm>
          <a:prstGeom prst="rect">
            <a:avLst/>
          </a:prstGeom>
        </p:spPr>
      </p:pic>
      <p:sp>
        <p:nvSpPr>
          <p:cNvPr id="7" name="Text 3"/>
          <p:cNvSpPr txBox="1"/>
          <p:nvPr/>
        </p:nvSpPr>
        <p:spPr>
          <a:xfrm>
            <a:off x="5257800" y="109728"/>
            <a:ext cx="4206240" cy="777240"/>
          </a:xfrm>
          <a:prstGeom prst="rect">
            <a:avLst/>
          </a:prstGeom>
          <a:noFill/>
          <a:ln/>
        </p:spPr>
        <p:txBody>
          <a:bodyPr wrap="square" lIns="0" tIns="0" rIns="0" bIns="0" rtlCol="0" anchor="ctr"/>
          <a:lstStyle/>
          <a:p>
            <a:pPr indent="0" marL="0">
              <a:lnSpc>
                <a:spcPct val="95000"/>
              </a:lnSpc>
              <a:buNone/>
            </a:pPr>
            <a:r>
              <a:rPr lang="en-US" sz="900" b="1" spc="600" kern="0" dirty="0">
                <a:solidFill>
                  <a:srgbClr val="B79A5E"/>
                </a:solidFill>
                <a:latin typeface="Calibri" pitchFamily="34" charset="0"/>
                <a:ea typeface="Calibri" pitchFamily="34" charset="-122"/>
                <a:cs typeface="Calibri" pitchFamily="34" charset="-120"/>
              </a:rPr>
              <a:t>WITS</a:t>
            </a:r>
            <a:endParaRPr lang="en-US" sz="900" dirty="0"/>
          </a:p>
          <a:p>
            <a:pPr indent="0" marL="0">
              <a:lnSpc>
                <a:spcPct val="95000"/>
              </a:lnSpc>
              <a:buNone/>
            </a:pPr>
            <a:r>
              <a:rPr lang="en-US" sz="2400" b="1" dirty="0">
                <a:solidFill>
                  <a:srgbClr val="003B5C"/>
                </a:solidFill>
                <a:latin typeface="Calibri" pitchFamily="34" charset="0"/>
                <a:ea typeface="Calibri" pitchFamily="34" charset="-122"/>
                <a:cs typeface="Calibri" pitchFamily="34" charset="-120"/>
              </a:rPr>
              <a:t>AHEAD</a:t>
            </a:r>
            <a:endParaRPr lang="en-US" sz="900" dirty="0"/>
          </a:p>
          <a:p>
            <a:pPr indent="0" marL="0">
              <a:lnSpc>
                <a:spcPct val="95000"/>
              </a:lnSpc>
              <a:buNone/>
            </a:pPr>
            <a:r>
              <a:rPr lang="en-US" sz="850" dirty="0">
                <a:solidFill>
                  <a:srgbClr val="333333"/>
                </a:solidFill>
                <a:latin typeface="Calibri" pitchFamily="34" charset="0"/>
                <a:ea typeface="Calibri" pitchFamily="34" charset="-122"/>
                <a:cs typeface="Calibri" pitchFamily="34" charset="-120"/>
              </a:rPr>
              <a:t>Research Group for Advancing Human Capabilities through Education, Analytics and Development</a:t>
            </a:r>
            <a:endParaRPr lang="en-US" sz="900" dirty="0"/>
          </a:p>
        </p:txBody>
      </p:sp>
      <p:sp>
        <p:nvSpPr>
          <p:cNvPr id="9" name="Text 4"/>
          <p:cNvSpPr txBox="1"/>
          <p:nvPr/>
        </p:nvSpPr>
        <p:spPr>
          <a:xfrm>
            <a:off x="731520" y="1325880"/>
            <a:ext cx="9601200" cy="320040"/>
          </a:xfrm>
          <a:prstGeom prst="rect">
            <a:avLst/>
          </a:prstGeom>
          <a:noFill/>
          <a:ln/>
        </p:spPr>
        <p:txBody>
          <a:bodyPr wrap="square" lIns="0" tIns="0" rIns="0" bIns="0" rtlCol="0" anchor="ctr"/>
          <a:lstStyle/>
          <a:p>
            <a:pPr indent="0" marL="0">
              <a:buNone/>
            </a:pPr>
            <a:r>
              <a:rPr lang="en-US" sz="1200" b="1" spc="400" kern="0" dirty="0">
                <a:solidFill>
                  <a:srgbClr val="B79A5E"/>
                </a:solidFill>
                <a:latin typeface="Calibri" pitchFamily="34" charset="0"/>
                <a:ea typeface="Calibri" pitchFamily="34" charset="-122"/>
                <a:cs typeface="Calibri" pitchFamily="34" charset="-120"/>
              </a:rPr>
              <a:t>WHAT CHANGES</a:t>
            </a:r>
            <a:endParaRPr lang="en-US" sz="1200" dirty="0"/>
          </a:p>
        </p:txBody>
      </p:sp>
      <p:sp>
        <p:nvSpPr>
          <p:cNvPr id="10" name="Text 5"/>
          <p:cNvSpPr txBox="1"/>
          <p:nvPr/>
        </p:nvSpPr>
        <p:spPr>
          <a:xfrm>
            <a:off x="10177272" y="6400800"/>
            <a:ext cx="1280160" cy="274320"/>
          </a:xfrm>
          <a:prstGeom prst="rect">
            <a:avLst/>
          </a:prstGeom>
          <a:noFill/>
          <a:ln/>
        </p:spPr>
        <p:txBody>
          <a:bodyPr wrap="square" lIns="0" tIns="0" rIns="0" bIns="0" rtlCol="0" anchor="ctr"/>
          <a:lstStyle/>
          <a:p>
            <a:pPr algn="r" indent="0" marL="0">
              <a:buNone/>
            </a:pPr>
            <a:r>
              <a:rPr lang="en-US" sz="1000" dirty="0">
                <a:solidFill>
                  <a:srgbClr val="B8CBDA"/>
                </a:solidFill>
                <a:latin typeface="Calibri" pitchFamily="34" charset="0"/>
                <a:ea typeface="Calibri" pitchFamily="34" charset="-122"/>
                <a:cs typeface="Calibri" pitchFamily="34" charset="-120"/>
              </a:rPr>
              <a:t>3 / 16</a:t>
            </a:r>
            <a:endParaRPr lang="en-US" sz="1000" dirty="0"/>
          </a:p>
        </p:txBody>
      </p:sp>
      <p:sp>
        <p:nvSpPr>
          <p:cNvPr id="11" name="Text 6"/>
          <p:cNvSpPr txBox="1"/>
          <p:nvPr/>
        </p:nvSpPr>
        <p:spPr>
          <a:xfrm>
            <a:off x="731520" y="1618488"/>
            <a:ext cx="10607040" cy="91440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Feedback no longer comes by email</a:t>
            </a:r>
            <a:endParaRPr lang="en-US" sz="3400" dirty="0"/>
          </a:p>
        </p:txBody>
      </p:sp>
      <p:sp>
        <p:nvSpPr>
          <p:cNvPr id="12" name="Shape 7"/>
          <p:cNvSpPr/>
          <p:nvPr/>
        </p:nvSpPr>
        <p:spPr>
          <a:xfrm>
            <a:off x="731520" y="2532888"/>
            <a:ext cx="731520" cy="45720"/>
          </a:xfrm>
          <a:prstGeom prst="rect">
            <a:avLst/>
          </a:prstGeom>
          <a:solidFill>
            <a:srgbClr val="B79A5E"/>
          </a:solidFill>
          <a:ln w="12700">
            <a:solidFill>
              <a:srgbClr val="B79A5E"/>
            </a:solidFill>
            <a:prstDash val="solid"/>
          </a:ln>
        </p:spPr>
      </p:sp>
      <p:sp>
        <p:nvSpPr>
          <p:cNvPr id="13" name="Text 8"/>
          <p:cNvSpPr txBox="1"/>
          <p:nvPr/>
        </p:nvSpPr>
        <p:spPr>
          <a:xfrm>
            <a:off x="731520" y="2743200"/>
            <a:ext cx="10607040" cy="384048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900" dirty="0">
                <a:solidFill>
                  <a:srgbClr val="EAF1F7"/>
                </a:solidFill>
                <a:latin typeface="Calibri" pitchFamily="34" charset="0"/>
                <a:ea typeface="Calibri" pitchFamily="34" charset="-122"/>
                <a:cs typeface="Calibri" pitchFamily="34" charset="-120"/>
              </a:rPr>
              <a:t>From now on, feedback on your chapters and proposals arrives on the portal.</a:t>
            </a:r>
            <a:endParaRPr lang="en-US" sz="1900" dirty="0"/>
          </a:p>
          <a:p>
            <a:pPr marL="342900" indent="-342900">
              <a:lnSpc>
                <a:spcPct val="115000"/>
              </a:lnSpc>
              <a:spcAft>
                <a:spcPts val="1400"/>
              </a:spcAft>
              <a:buSzPct val="100000"/>
              <a:buChar char="●"/>
            </a:pPr>
            <a:r>
              <a:rPr lang="en-US" sz="1900" dirty="0">
                <a:solidFill>
                  <a:srgbClr val="EAF1F7"/>
                </a:solidFill>
                <a:latin typeface="Calibri" pitchFamily="34" charset="0"/>
                <a:ea typeface="Calibri" pitchFamily="34" charset="-122"/>
                <a:cs typeface="Calibri" pitchFamily="34" charset="-120"/>
              </a:rPr>
              <a:t>Every round comes with the reviewed documents, your actions to tick off, readings to open, and a recording you can listen to while you read.</a:t>
            </a:r>
            <a:endParaRPr lang="en-US" sz="1900" dirty="0"/>
          </a:p>
          <a:p>
            <a:pPr marL="342900" indent="-342900">
              <a:lnSpc>
                <a:spcPct val="115000"/>
              </a:lnSpc>
              <a:spcAft>
                <a:spcPts val="1400"/>
              </a:spcAft>
              <a:buSzPct val="100000"/>
              <a:buChar char="●"/>
            </a:pPr>
            <a:r>
              <a:rPr lang="en-US" sz="1900" dirty="0">
                <a:solidFill>
                  <a:srgbClr val="EAF1F7"/>
                </a:solidFill>
                <a:latin typeface="Calibri" pitchFamily="34" charset="0"/>
                <a:ea typeface="Calibri" pitchFamily="34" charset="-122"/>
                <a:cs typeface="Calibri" pitchFamily="34" charset="-120"/>
              </a:rPr>
              <a:t>Messages to and from the Director are on the portal too, with a notification on your phone.</a:t>
            </a:r>
            <a:endParaRPr lang="en-US" sz="1900" dirty="0"/>
          </a:p>
          <a:p>
            <a:pPr marL="342900" indent="-342900">
              <a:lnSpc>
                <a:spcPct val="115000"/>
              </a:lnSpc>
              <a:spcAft>
                <a:spcPts val="1400"/>
              </a:spcAft>
              <a:buSzPct val="100000"/>
              <a:buChar char="●"/>
            </a:pPr>
            <a:r>
              <a:rPr lang="en-US" sz="1900" dirty="0">
                <a:solidFill>
                  <a:srgbClr val="EAF1F7"/>
                </a:solidFill>
                <a:latin typeface="Calibri" pitchFamily="34" charset="0"/>
                <a:ea typeface="Calibri" pitchFamily="34" charset="-122"/>
                <a:cs typeface="Calibri" pitchFamily="34" charset="-120"/>
              </a:rPr>
              <a:t>Email still tells you something is waiting, but the work happens in Pathway.</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FFFF"/>
          </a:solidFill>
          <a:ln w="12700">
            <a:solidFill>
              <a:srgbClr val="FFFFFF"/>
            </a:solidFill>
            <a:prstDash val="solid"/>
          </a:ln>
        </p:spPr>
      </p:sp>
      <p:sp>
        <p:nvSpPr>
          <p:cNvPr id="3" name="Shape 1"/>
          <p:cNvSpPr/>
          <p:nvPr/>
        </p:nvSpPr>
        <p:spPr>
          <a:xfrm>
            <a:off x="0" y="923544"/>
            <a:ext cx="12188952" cy="36576"/>
          </a:xfrm>
          <a:prstGeom prst="rect">
            <a:avLst/>
          </a:prstGeom>
          <a:solidFill>
            <a:srgbClr val="B79A5E"/>
          </a:solidFill>
          <a:ln w="12700">
            <a:solidFill>
              <a:srgbClr val="B79A5E"/>
            </a:solidFill>
            <a:prstDash val="solid"/>
          </a:ln>
        </p:spPr>
      </p:sp>
      <p:pic>
        <p:nvPicPr>
          <p:cNvPr id="4" name="Image 0" descr="/Users/emmanuel_ojo/Library/CloudStorage/Dropbox/Claude Cowork/04 Grants &amp; Fellowships/Wits AHEAD Research Group/10 Website &amp; Daily Briefing/assets/wits-wsoe-lockup.png">    </p:cNvPr>
          <p:cNvPicPr>
            <a:picLocks noChangeAspect="1"/>
          </p:cNvPicPr>
          <p:nvPr/>
        </p:nvPicPr>
        <p:blipFill>
          <a:blip r:embed="rId2"/>
          <a:stretch>
            <a:fillRect/>
          </a:stretch>
        </p:blipFill>
        <p:spPr>
          <a:xfrm>
            <a:off x="731520" y="182880"/>
            <a:ext cx="3286461" cy="594360"/>
          </a:xfrm>
          <a:prstGeom prst="rect">
            <a:avLst/>
          </a:prstGeom>
        </p:spPr>
      </p:pic>
      <p:sp>
        <p:nvSpPr>
          <p:cNvPr id="5" name="Shape 2"/>
          <p:cNvSpPr/>
          <p:nvPr/>
        </p:nvSpPr>
        <p:spPr>
          <a:xfrm>
            <a:off x="4343400" y="182880"/>
            <a:ext cx="13716" cy="594360"/>
          </a:xfrm>
          <a:prstGeom prst="rect">
            <a:avLst/>
          </a:prstGeom>
          <a:solidFill>
            <a:srgbClr val="003B5C">
              <a:alpha val="50000"/>
            </a:srgbClr>
          </a:solidFill>
          <a:ln w="12700">
            <a:solidFill>
              <a:srgbClr val="003B5C">
                <a:alpha val="50000"/>
              </a:srgbClr>
            </a:solidFill>
            <a:prstDash val="solid"/>
          </a:ln>
        </p:spPr>
      </p:sp>
      <p:pic>
        <p:nvPicPr>
          <p:cNvPr id="6" name="Image 1" descr="/Users/emmanuel_ojo/Library/CloudStorage/Dropbox/Claude Cowork/04 Grants &amp; Fellowships/Wits AHEAD Research Group/10 Website &amp; Daily Briefing/site/assets/logo-600.png">    </p:cNvPr>
          <p:cNvPicPr>
            <a:picLocks noChangeAspect="1"/>
          </p:cNvPicPr>
          <p:nvPr/>
        </p:nvPicPr>
        <p:blipFill>
          <a:blip r:embed="rId3"/>
          <a:stretch>
            <a:fillRect/>
          </a:stretch>
        </p:blipFill>
        <p:spPr>
          <a:xfrm>
            <a:off x="4526280" y="182880"/>
            <a:ext cx="594360" cy="594360"/>
          </a:xfrm>
          <a:prstGeom prst="rect">
            <a:avLst/>
          </a:prstGeom>
        </p:spPr>
      </p:pic>
      <p:sp>
        <p:nvSpPr>
          <p:cNvPr id="7" name="Text 3"/>
          <p:cNvSpPr txBox="1"/>
          <p:nvPr/>
        </p:nvSpPr>
        <p:spPr>
          <a:xfrm>
            <a:off x="5257800" y="109728"/>
            <a:ext cx="4206240" cy="777240"/>
          </a:xfrm>
          <a:prstGeom prst="rect">
            <a:avLst/>
          </a:prstGeom>
          <a:noFill/>
          <a:ln/>
        </p:spPr>
        <p:txBody>
          <a:bodyPr wrap="square" lIns="0" tIns="0" rIns="0" bIns="0" rtlCol="0" anchor="ctr"/>
          <a:lstStyle/>
          <a:p>
            <a:pPr indent="0" marL="0">
              <a:lnSpc>
                <a:spcPct val="95000"/>
              </a:lnSpc>
              <a:buNone/>
            </a:pPr>
            <a:r>
              <a:rPr lang="en-US" sz="900" b="1" spc="600" kern="0" dirty="0">
                <a:solidFill>
                  <a:srgbClr val="B79A5E"/>
                </a:solidFill>
                <a:latin typeface="Calibri" pitchFamily="34" charset="0"/>
                <a:ea typeface="Calibri" pitchFamily="34" charset="-122"/>
                <a:cs typeface="Calibri" pitchFamily="34" charset="-120"/>
              </a:rPr>
              <a:t>WITS</a:t>
            </a:r>
            <a:endParaRPr lang="en-US" sz="900" dirty="0"/>
          </a:p>
          <a:p>
            <a:pPr indent="0" marL="0">
              <a:lnSpc>
                <a:spcPct val="95000"/>
              </a:lnSpc>
              <a:buNone/>
            </a:pPr>
            <a:r>
              <a:rPr lang="en-US" sz="2400" b="1" dirty="0">
                <a:solidFill>
                  <a:srgbClr val="003B5C"/>
                </a:solidFill>
                <a:latin typeface="Calibri" pitchFamily="34" charset="0"/>
                <a:ea typeface="Calibri" pitchFamily="34" charset="-122"/>
                <a:cs typeface="Calibri" pitchFamily="34" charset="-120"/>
              </a:rPr>
              <a:t>AHEAD</a:t>
            </a:r>
            <a:endParaRPr lang="en-US" sz="900" dirty="0"/>
          </a:p>
          <a:p>
            <a:pPr indent="0" marL="0">
              <a:lnSpc>
                <a:spcPct val="95000"/>
              </a:lnSpc>
              <a:buNone/>
            </a:pPr>
            <a:r>
              <a:rPr lang="en-US" sz="850" dirty="0">
                <a:solidFill>
                  <a:srgbClr val="333333"/>
                </a:solidFill>
                <a:latin typeface="Calibri" pitchFamily="34" charset="0"/>
                <a:ea typeface="Calibri" pitchFamily="34" charset="-122"/>
                <a:cs typeface="Calibri" pitchFamily="34" charset="-120"/>
              </a:rPr>
              <a:t>Research Group for Advancing Human Capabilities through Education, Analytics and Development</a:t>
            </a:r>
            <a:endParaRPr lang="en-US" sz="900" dirty="0"/>
          </a:p>
        </p:txBody>
      </p:sp>
      <p:sp>
        <p:nvSpPr>
          <p:cNvPr id="9" name="Text 4"/>
          <p:cNvSpPr txBox="1"/>
          <p:nvPr/>
        </p:nvSpPr>
        <p:spPr>
          <a:xfrm>
            <a:off x="731520" y="1325880"/>
            <a:ext cx="9601200" cy="320040"/>
          </a:xfrm>
          <a:prstGeom prst="rect">
            <a:avLst/>
          </a:prstGeom>
          <a:noFill/>
          <a:ln/>
        </p:spPr>
        <p:txBody>
          <a:bodyPr wrap="square" lIns="0" tIns="0" rIns="0" bIns="0" rtlCol="0" anchor="ctr"/>
          <a:lstStyle/>
          <a:p>
            <a:pPr indent="0" marL="0">
              <a:buNone/>
            </a:pPr>
            <a:r>
              <a:rPr lang="en-US" sz="1200" b="1" spc="400" kern="0" dirty="0">
                <a:solidFill>
                  <a:srgbClr val="B79A5E"/>
                </a:solidFill>
                <a:latin typeface="Calibri" pitchFamily="34" charset="0"/>
                <a:ea typeface="Calibri" pitchFamily="34" charset="-122"/>
                <a:cs typeface="Calibri" pitchFamily="34" charset="-120"/>
              </a:rPr>
              <a:t>WITSAHEAD.ORG</a:t>
            </a:r>
            <a:endParaRPr lang="en-US" sz="1200" dirty="0"/>
          </a:p>
        </p:txBody>
      </p:sp>
      <p:sp>
        <p:nvSpPr>
          <p:cNvPr id="10" name="Text 5"/>
          <p:cNvSpPr txBox="1"/>
          <p:nvPr/>
        </p:nvSpPr>
        <p:spPr>
          <a:xfrm>
            <a:off x="10177272" y="6400800"/>
            <a:ext cx="1280160" cy="274320"/>
          </a:xfrm>
          <a:prstGeom prst="rect">
            <a:avLst/>
          </a:prstGeom>
          <a:noFill/>
          <a:ln/>
        </p:spPr>
        <p:txBody>
          <a:bodyPr wrap="square" lIns="0" tIns="0" rIns="0" bIns="0" rtlCol="0" anchor="ctr"/>
          <a:lstStyle/>
          <a:p>
            <a:pPr algn="r" indent="0" marL="0">
              <a:buNone/>
            </a:pPr>
            <a:r>
              <a:rPr lang="en-US" sz="1000" dirty="0">
                <a:solidFill>
                  <a:srgbClr val="B8CBDA"/>
                </a:solidFill>
                <a:latin typeface="Calibri" pitchFamily="34" charset="0"/>
                <a:ea typeface="Calibri" pitchFamily="34" charset="-122"/>
                <a:cs typeface="Calibri" pitchFamily="34" charset="-120"/>
              </a:rPr>
              <a:t>4 / 16</a:t>
            </a:r>
            <a:endParaRPr lang="en-US" sz="1000" dirty="0"/>
          </a:p>
        </p:txBody>
      </p:sp>
      <p:sp>
        <p:nvSpPr>
          <p:cNvPr id="11" name="Text 6"/>
          <p:cNvSpPr txBox="1"/>
          <p:nvPr/>
        </p:nvSpPr>
        <p:spPr>
          <a:xfrm>
            <a:off x="731520" y="1618488"/>
            <a:ext cx="10607040" cy="91440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One website, six languages, something new every day</a:t>
            </a:r>
            <a:endParaRPr lang="en-US" sz="3000" dirty="0"/>
          </a:p>
        </p:txBody>
      </p:sp>
      <p:sp>
        <p:nvSpPr>
          <p:cNvPr id="12" name="Shape 7"/>
          <p:cNvSpPr/>
          <p:nvPr/>
        </p:nvSpPr>
        <p:spPr>
          <a:xfrm>
            <a:off x="731520" y="2532888"/>
            <a:ext cx="731520" cy="45720"/>
          </a:xfrm>
          <a:prstGeom prst="rect">
            <a:avLst/>
          </a:prstGeom>
          <a:solidFill>
            <a:srgbClr val="B79A5E"/>
          </a:solidFill>
          <a:ln w="12700">
            <a:solidFill>
              <a:srgbClr val="B79A5E"/>
            </a:solidFill>
            <a:prstDash val="solid"/>
          </a:ln>
        </p:spPr>
      </p:sp>
      <p:sp>
        <p:nvSpPr>
          <p:cNvPr id="13" name="Shape 8"/>
          <p:cNvSpPr/>
          <p:nvPr/>
        </p:nvSpPr>
        <p:spPr>
          <a:xfrm>
            <a:off x="731520" y="2697480"/>
            <a:ext cx="1463040" cy="457200"/>
          </a:xfrm>
          <a:prstGeom prst="roundRect">
            <a:avLst>
              <a:gd name="adj" fmla="val 50000"/>
            </a:avLst>
          </a:prstGeom>
          <a:solidFill>
            <a:srgbClr val="003B5C">
              <a:alpha val="0"/>
            </a:srgbClr>
          </a:solidFill>
          <a:ln w="19050">
            <a:solidFill>
              <a:srgbClr val="B79A5E"/>
            </a:solidFill>
            <a:prstDash val="solid"/>
          </a:ln>
        </p:spPr>
      </p:sp>
      <p:sp>
        <p:nvSpPr>
          <p:cNvPr id="14" name="Text 9"/>
          <p:cNvSpPr txBox="1"/>
          <p:nvPr/>
        </p:nvSpPr>
        <p:spPr>
          <a:xfrm>
            <a:off x="731520" y="2697480"/>
            <a:ext cx="14630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English</a:t>
            </a:r>
            <a:endParaRPr lang="en-US" sz="1400" dirty="0"/>
          </a:p>
        </p:txBody>
      </p:sp>
      <p:sp>
        <p:nvSpPr>
          <p:cNvPr id="15" name="Shape 10"/>
          <p:cNvSpPr/>
          <p:nvPr/>
        </p:nvSpPr>
        <p:spPr>
          <a:xfrm>
            <a:off x="2331720" y="2697480"/>
            <a:ext cx="1463040" cy="457200"/>
          </a:xfrm>
          <a:prstGeom prst="roundRect">
            <a:avLst>
              <a:gd name="adj" fmla="val 50000"/>
            </a:avLst>
          </a:prstGeom>
          <a:solidFill>
            <a:srgbClr val="003B5C">
              <a:alpha val="0"/>
            </a:srgbClr>
          </a:solidFill>
          <a:ln w="19050">
            <a:solidFill>
              <a:srgbClr val="B79A5E"/>
            </a:solidFill>
            <a:prstDash val="solid"/>
          </a:ln>
        </p:spPr>
      </p:sp>
      <p:sp>
        <p:nvSpPr>
          <p:cNvPr id="16" name="Text 11"/>
          <p:cNvSpPr txBox="1"/>
          <p:nvPr/>
        </p:nvSpPr>
        <p:spPr>
          <a:xfrm>
            <a:off x="2331720" y="2697480"/>
            <a:ext cx="14630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Français</a:t>
            </a:r>
            <a:endParaRPr lang="en-US" sz="1400" dirty="0"/>
          </a:p>
        </p:txBody>
      </p:sp>
      <p:sp>
        <p:nvSpPr>
          <p:cNvPr id="17" name="Shape 12"/>
          <p:cNvSpPr/>
          <p:nvPr/>
        </p:nvSpPr>
        <p:spPr>
          <a:xfrm>
            <a:off x="3931920" y="2697480"/>
            <a:ext cx="1463040" cy="457200"/>
          </a:xfrm>
          <a:prstGeom prst="roundRect">
            <a:avLst>
              <a:gd name="adj" fmla="val 50000"/>
            </a:avLst>
          </a:prstGeom>
          <a:solidFill>
            <a:srgbClr val="003B5C">
              <a:alpha val="0"/>
            </a:srgbClr>
          </a:solidFill>
          <a:ln w="19050">
            <a:solidFill>
              <a:srgbClr val="B79A5E"/>
            </a:solidFill>
            <a:prstDash val="solid"/>
          </a:ln>
        </p:spPr>
      </p:sp>
      <p:sp>
        <p:nvSpPr>
          <p:cNvPr id="18" name="Text 13"/>
          <p:cNvSpPr txBox="1"/>
          <p:nvPr/>
        </p:nvSpPr>
        <p:spPr>
          <a:xfrm>
            <a:off x="3931920" y="2697480"/>
            <a:ext cx="14630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Español</a:t>
            </a:r>
            <a:endParaRPr lang="en-US" sz="1400" dirty="0"/>
          </a:p>
        </p:txBody>
      </p:sp>
      <p:sp>
        <p:nvSpPr>
          <p:cNvPr id="19" name="Shape 14"/>
          <p:cNvSpPr/>
          <p:nvPr/>
        </p:nvSpPr>
        <p:spPr>
          <a:xfrm>
            <a:off x="5532120" y="2697480"/>
            <a:ext cx="1463040" cy="457200"/>
          </a:xfrm>
          <a:prstGeom prst="roundRect">
            <a:avLst>
              <a:gd name="adj" fmla="val 50000"/>
            </a:avLst>
          </a:prstGeom>
          <a:solidFill>
            <a:srgbClr val="003B5C">
              <a:alpha val="0"/>
            </a:srgbClr>
          </a:solidFill>
          <a:ln w="19050">
            <a:solidFill>
              <a:srgbClr val="B79A5E"/>
            </a:solidFill>
            <a:prstDash val="solid"/>
          </a:ln>
        </p:spPr>
      </p:sp>
      <p:sp>
        <p:nvSpPr>
          <p:cNvPr id="20" name="Text 15"/>
          <p:cNvSpPr txBox="1"/>
          <p:nvPr/>
        </p:nvSpPr>
        <p:spPr>
          <a:xfrm>
            <a:off x="5532120" y="2697480"/>
            <a:ext cx="14630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Português</a:t>
            </a:r>
            <a:endParaRPr lang="en-US" sz="1400" dirty="0"/>
          </a:p>
        </p:txBody>
      </p:sp>
      <p:sp>
        <p:nvSpPr>
          <p:cNvPr id="21" name="Shape 16"/>
          <p:cNvSpPr/>
          <p:nvPr/>
        </p:nvSpPr>
        <p:spPr>
          <a:xfrm>
            <a:off x="7132320" y="2697480"/>
            <a:ext cx="1463040" cy="457200"/>
          </a:xfrm>
          <a:prstGeom prst="roundRect">
            <a:avLst>
              <a:gd name="adj" fmla="val 50000"/>
            </a:avLst>
          </a:prstGeom>
          <a:solidFill>
            <a:srgbClr val="003B5C">
              <a:alpha val="0"/>
            </a:srgbClr>
          </a:solidFill>
          <a:ln w="19050">
            <a:solidFill>
              <a:srgbClr val="B79A5E"/>
            </a:solidFill>
            <a:prstDash val="solid"/>
          </a:ln>
        </p:spPr>
      </p:sp>
      <p:sp>
        <p:nvSpPr>
          <p:cNvPr id="22" name="Text 17"/>
          <p:cNvSpPr txBox="1"/>
          <p:nvPr/>
        </p:nvSpPr>
        <p:spPr>
          <a:xfrm>
            <a:off x="7132320" y="2697480"/>
            <a:ext cx="14630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中文</a:t>
            </a:r>
            <a:endParaRPr lang="en-US" sz="1400" dirty="0"/>
          </a:p>
        </p:txBody>
      </p:sp>
      <p:sp>
        <p:nvSpPr>
          <p:cNvPr id="23" name="Shape 18"/>
          <p:cNvSpPr/>
          <p:nvPr/>
        </p:nvSpPr>
        <p:spPr>
          <a:xfrm>
            <a:off x="8732520" y="2697480"/>
            <a:ext cx="1463040" cy="457200"/>
          </a:xfrm>
          <a:prstGeom prst="roundRect">
            <a:avLst>
              <a:gd name="adj" fmla="val 50000"/>
            </a:avLst>
          </a:prstGeom>
          <a:solidFill>
            <a:srgbClr val="003B5C">
              <a:alpha val="0"/>
            </a:srgbClr>
          </a:solidFill>
          <a:ln w="19050">
            <a:solidFill>
              <a:srgbClr val="B79A5E"/>
            </a:solidFill>
            <a:prstDash val="solid"/>
          </a:ln>
        </p:spPr>
      </p:sp>
      <p:sp>
        <p:nvSpPr>
          <p:cNvPr id="24" name="Text 19"/>
          <p:cNvSpPr txBox="1"/>
          <p:nvPr/>
        </p:nvSpPr>
        <p:spPr>
          <a:xfrm>
            <a:off x="8732520" y="2697480"/>
            <a:ext cx="14630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isiZulu</a:t>
            </a:r>
            <a:endParaRPr lang="en-US" sz="1400" dirty="0"/>
          </a:p>
        </p:txBody>
      </p:sp>
      <p:sp>
        <p:nvSpPr>
          <p:cNvPr id="25" name="Text 20"/>
          <p:cNvSpPr txBox="1"/>
          <p:nvPr/>
        </p:nvSpPr>
        <p:spPr>
          <a:xfrm>
            <a:off x="731520" y="3337560"/>
            <a:ext cx="10607040" cy="320040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700" dirty="0">
                <a:solidFill>
                  <a:srgbClr val="EAF1F7"/>
                </a:solidFill>
                <a:latin typeface="Calibri" pitchFamily="34" charset="0"/>
                <a:ea typeface="Calibri" pitchFamily="34" charset="-122"/>
                <a:cs typeface="Calibri" pitchFamily="34" charset="-120"/>
              </a:rPr>
              <a:t>The daily briefing at 06:30: the day's news on AI, data and human capability in higher education, checked at source, three to four minutes.</a:t>
            </a:r>
            <a:endParaRPr lang="en-US" sz="1700" dirty="0"/>
          </a:p>
          <a:p>
            <a:pPr marL="342900" indent="-342900">
              <a:lnSpc>
                <a:spcPct val="115000"/>
              </a:lnSpc>
              <a:spcAft>
                <a:spcPts val="1000"/>
              </a:spcAft>
              <a:buSzPct val="100000"/>
              <a:buChar char="●"/>
            </a:pPr>
            <a:r>
              <a:rPr lang="en-US" sz="1700" dirty="0">
                <a:solidFill>
                  <a:srgbClr val="EAF1F7"/>
                </a:solidFill>
                <a:latin typeface="Calibri" pitchFamily="34" charset="0"/>
                <a:ea typeface="Calibri" pitchFamily="34" charset="-122"/>
                <a:cs typeface="Calibri" pitchFamily="34" charset="-120"/>
              </a:rPr>
              <a:t>The AHEAD Daily: the briefing read aloud, and a video you can download.</a:t>
            </a:r>
            <a:endParaRPr lang="en-US" sz="1700" dirty="0"/>
          </a:p>
          <a:p>
            <a:pPr marL="342900" indent="-342900">
              <a:lnSpc>
                <a:spcPct val="115000"/>
              </a:lnSpc>
              <a:spcAft>
                <a:spcPts val="1000"/>
              </a:spcAft>
              <a:buSzPct val="100000"/>
              <a:buChar char="●"/>
            </a:pPr>
            <a:r>
              <a:rPr lang="en-US" sz="1700" dirty="0">
                <a:solidFill>
                  <a:srgbClr val="EAF1F7"/>
                </a:solidFill>
                <a:latin typeface="Calibri" pitchFamily="34" charset="0"/>
                <a:ea typeface="Calibri" pitchFamily="34" charset="-122"/>
                <a:cs typeface="Calibri" pitchFamily="34" charset="-120"/>
              </a:rPr>
              <a:t>The AHEAD Fortnightly every second Thursday, project context feeds, researcher profiles and the group's global footprint.</a:t>
            </a:r>
            <a:endParaRPr lang="en-US" sz="1700" dirty="0"/>
          </a:p>
          <a:p>
            <a:pPr marL="342900" indent="-342900">
              <a:lnSpc>
                <a:spcPct val="115000"/>
              </a:lnSpc>
              <a:spcAft>
                <a:spcPts val="1000"/>
              </a:spcAft>
              <a:buSzPct val="100000"/>
              <a:buChar char="●"/>
            </a:pPr>
            <a:r>
              <a:rPr lang="en-US" sz="1700" dirty="0">
                <a:solidFill>
                  <a:srgbClr val="EAF1F7"/>
                </a:solidFill>
                <a:latin typeface="Calibri" pitchFamily="34" charset="0"/>
                <a:ea typeface="Calibri" pitchFamily="34" charset="-122"/>
                <a:cs typeface="Calibri" pitchFamily="34" charset="-120"/>
              </a:rPr>
              <a:t>Read it in English, French, Spanish, Portuguese, Chinese or isiZulu. Install it on your phone like an app.</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FFFF"/>
          </a:solidFill>
          <a:ln w="12700">
            <a:solidFill>
              <a:srgbClr val="FFFFFF"/>
            </a:solidFill>
            <a:prstDash val="solid"/>
          </a:ln>
        </p:spPr>
      </p:sp>
      <p:sp>
        <p:nvSpPr>
          <p:cNvPr id="3" name="Shape 1"/>
          <p:cNvSpPr/>
          <p:nvPr/>
        </p:nvSpPr>
        <p:spPr>
          <a:xfrm>
            <a:off x="0" y="923544"/>
            <a:ext cx="12188952" cy="36576"/>
          </a:xfrm>
          <a:prstGeom prst="rect">
            <a:avLst/>
          </a:prstGeom>
          <a:solidFill>
            <a:srgbClr val="B79A5E"/>
          </a:solidFill>
          <a:ln w="12700">
            <a:solidFill>
              <a:srgbClr val="B79A5E"/>
            </a:solidFill>
            <a:prstDash val="solid"/>
          </a:ln>
        </p:spPr>
      </p:sp>
      <p:pic>
        <p:nvPicPr>
          <p:cNvPr id="4" name="Image 0" descr="/Users/emmanuel_ojo/Library/CloudStorage/Dropbox/Claude Cowork/04 Grants &amp; Fellowships/Wits AHEAD Research Group/10 Website &amp; Daily Briefing/assets/wits-wsoe-lockup.png">    </p:cNvPr>
          <p:cNvPicPr>
            <a:picLocks noChangeAspect="1"/>
          </p:cNvPicPr>
          <p:nvPr/>
        </p:nvPicPr>
        <p:blipFill>
          <a:blip r:embed="rId2"/>
          <a:stretch>
            <a:fillRect/>
          </a:stretch>
        </p:blipFill>
        <p:spPr>
          <a:xfrm>
            <a:off x="731520" y="182880"/>
            <a:ext cx="3286461" cy="594360"/>
          </a:xfrm>
          <a:prstGeom prst="rect">
            <a:avLst/>
          </a:prstGeom>
        </p:spPr>
      </p:pic>
      <p:sp>
        <p:nvSpPr>
          <p:cNvPr id="5" name="Shape 2"/>
          <p:cNvSpPr/>
          <p:nvPr/>
        </p:nvSpPr>
        <p:spPr>
          <a:xfrm>
            <a:off x="4343400" y="182880"/>
            <a:ext cx="13716" cy="594360"/>
          </a:xfrm>
          <a:prstGeom prst="rect">
            <a:avLst/>
          </a:prstGeom>
          <a:solidFill>
            <a:srgbClr val="003B5C">
              <a:alpha val="50000"/>
            </a:srgbClr>
          </a:solidFill>
          <a:ln w="12700">
            <a:solidFill>
              <a:srgbClr val="003B5C">
                <a:alpha val="50000"/>
              </a:srgbClr>
            </a:solidFill>
            <a:prstDash val="solid"/>
          </a:ln>
        </p:spPr>
      </p:sp>
      <p:pic>
        <p:nvPicPr>
          <p:cNvPr id="6" name="Image 1" descr="/Users/emmanuel_ojo/Library/CloudStorage/Dropbox/Claude Cowork/04 Grants &amp; Fellowships/Wits AHEAD Research Group/10 Website &amp; Daily Briefing/site/assets/logo-600.png">    </p:cNvPr>
          <p:cNvPicPr>
            <a:picLocks noChangeAspect="1"/>
          </p:cNvPicPr>
          <p:nvPr/>
        </p:nvPicPr>
        <p:blipFill>
          <a:blip r:embed="rId3"/>
          <a:stretch>
            <a:fillRect/>
          </a:stretch>
        </p:blipFill>
        <p:spPr>
          <a:xfrm>
            <a:off x="4526280" y="182880"/>
            <a:ext cx="594360" cy="594360"/>
          </a:xfrm>
          <a:prstGeom prst="rect">
            <a:avLst/>
          </a:prstGeom>
        </p:spPr>
      </p:pic>
      <p:sp>
        <p:nvSpPr>
          <p:cNvPr id="7" name="Text 3"/>
          <p:cNvSpPr txBox="1"/>
          <p:nvPr/>
        </p:nvSpPr>
        <p:spPr>
          <a:xfrm>
            <a:off x="5257800" y="109728"/>
            <a:ext cx="4206240" cy="777240"/>
          </a:xfrm>
          <a:prstGeom prst="rect">
            <a:avLst/>
          </a:prstGeom>
          <a:noFill/>
          <a:ln/>
        </p:spPr>
        <p:txBody>
          <a:bodyPr wrap="square" lIns="0" tIns="0" rIns="0" bIns="0" rtlCol="0" anchor="ctr"/>
          <a:lstStyle/>
          <a:p>
            <a:pPr indent="0" marL="0">
              <a:lnSpc>
                <a:spcPct val="95000"/>
              </a:lnSpc>
              <a:buNone/>
            </a:pPr>
            <a:r>
              <a:rPr lang="en-US" sz="900" b="1" spc="600" kern="0" dirty="0">
                <a:solidFill>
                  <a:srgbClr val="B79A5E"/>
                </a:solidFill>
                <a:latin typeface="Calibri" pitchFamily="34" charset="0"/>
                <a:ea typeface="Calibri" pitchFamily="34" charset="-122"/>
                <a:cs typeface="Calibri" pitchFamily="34" charset="-120"/>
              </a:rPr>
              <a:t>WITS</a:t>
            </a:r>
            <a:endParaRPr lang="en-US" sz="900" dirty="0"/>
          </a:p>
          <a:p>
            <a:pPr indent="0" marL="0">
              <a:lnSpc>
                <a:spcPct val="95000"/>
              </a:lnSpc>
              <a:buNone/>
            </a:pPr>
            <a:r>
              <a:rPr lang="en-US" sz="2400" b="1" dirty="0">
                <a:solidFill>
                  <a:srgbClr val="003B5C"/>
                </a:solidFill>
                <a:latin typeface="Calibri" pitchFamily="34" charset="0"/>
                <a:ea typeface="Calibri" pitchFamily="34" charset="-122"/>
                <a:cs typeface="Calibri" pitchFamily="34" charset="-120"/>
              </a:rPr>
              <a:t>AHEAD</a:t>
            </a:r>
            <a:endParaRPr lang="en-US" sz="900" dirty="0"/>
          </a:p>
          <a:p>
            <a:pPr indent="0" marL="0">
              <a:lnSpc>
                <a:spcPct val="95000"/>
              </a:lnSpc>
              <a:buNone/>
            </a:pPr>
            <a:r>
              <a:rPr lang="en-US" sz="850" dirty="0">
                <a:solidFill>
                  <a:srgbClr val="333333"/>
                </a:solidFill>
                <a:latin typeface="Calibri" pitchFamily="34" charset="0"/>
                <a:ea typeface="Calibri" pitchFamily="34" charset="-122"/>
                <a:cs typeface="Calibri" pitchFamily="34" charset="-120"/>
              </a:rPr>
              <a:t>Research Group for Advancing Human Capabilities through Education, Analytics and Development</a:t>
            </a:r>
            <a:endParaRPr lang="en-US" sz="900" dirty="0"/>
          </a:p>
        </p:txBody>
      </p:sp>
      <p:sp>
        <p:nvSpPr>
          <p:cNvPr id="9" name="Text 4"/>
          <p:cNvSpPr txBox="1"/>
          <p:nvPr/>
        </p:nvSpPr>
        <p:spPr>
          <a:xfrm>
            <a:off x="731520" y="1325880"/>
            <a:ext cx="9601200" cy="320040"/>
          </a:xfrm>
          <a:prstGeom prst="rect">
            <a:avLst/>
          </a:prstGeom>
          <a:noFill/>
          <a:ln/>
        </p:spPr>
        <p:txBody>
          <a:bodyPr wrap="square" lIns="0" tIns="0" rIns="0" bIns="0" rtlCol="0" anchor="ctr"/>
          <a:lstStyle/>
          <a:p>
            <a:pPr indent="0" marL="0">
              <a:buNone/>
            </a:pPr>
            <a:r>
              <a:rPr lang="en-US" sz="1200" b="1" spc="400" kern="0" dirty="0">
                <a:solidFill>
                  <a:srgbClr val="B79A5E"/>
                </a:solidFill>
                <a:latin typeface="Calibri" pitchFamily="34" charset="0"/>
                <a:ea typeface="Calibri" pitchFamily="34" charset="-122"/>
                <a:cs typeface="Calibri" pitchFamily="34" charset="-120"/>
              </a:rPr>
              <a:t>STEP 1</a:t>
            </a:r>
            <a:endParaRPr lang="en-US" sz="1200" dirty="0"/>
          </a:p>
        </p:txBody>
      </p:sp>
      <p:sp>
        <p:nvSpPr>
          <p:cNvPr id="10" name="Text 5"/>
          <p:cNvSpPr txBox="1"/>
          <p:nvPr/>
        </p:nvSpPr>
        <p:spPr>
          <a:xfrm>
            <a:off x="10177272" y="6400800"/>
            <a:ext cx="1280160" cy="274320"/>
          </a:xfrm>
          <a:prstGeom prst="rect">
            <a:avLst/>
          </a:prstGeom>
          <a:noFill/>
          <a:ln/>
        </p:spPr>
        <p:txBody>
          <a:bodyPr wrap="square" lIns="0" tIns="0" rIns="0" bIns="0" rtlCol="0" anchor="ctr"/>
          <a:lstStyle/>
          <a:p>
            <a:pPr algn="r" indent="0" marL="0">
              <a:buNone/>
            </a:pPr>
            <a:r>
              <a:rPr lang="en-US" sz="1000" dirty="0">
                <a:solidFill>
                  <a:srgbClr val="B8CBDA"/>
                </a:solidFill>
                <a:latin typeface="Calibri" pitchFamily="34" charset="0"/>
                <a:ea typeface="Calibri" pitchFamily="34" charset="-122"/>
                <a:cs typeface="Calibri" pitchFamily="34" charset="-120"/>
              </a:rPr>
              <a:t>5 / 16</a:t>
            </a:r>
            <a:endParaRPr lang="en-US" sz="1000" dirty="0"/>
          </a:p>
        </p:txBody>
      </p:sp>
      <p:sp>
        <p:nvSpPr>
          <p:cNvPr id="11" name="Text 6"/>
          <p:cNvSpPr txBox="1"/>
          <p:nvPr/>
        </p:nvSpPr>
        <p:spPr>
          <a:xfrm>
            <a:off x="731520" y="1618488"/>
            <a:ext cx="10607040" cy="91440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Install Pathway on your phone, and bookmark it</a:t>
            </a:r>
            <a:endParaRPr lang="en-US" sz="3400" dirty="0"/>
          </a:p>
        </p:txBody>
      </p:sp>
      <p:sp>
        <p:nvSpPr>
          <p:cNvPr id="12" name="Shape 7"/>
          <p:cNvSpPr/>
          <p:nvPr/>
        </p:nvSpPr>
        <p:spPr>
          <a:xfrm>
            <a:off x="731520" y="2532888"/>
            <a:ext cx="731520" cy="45720"/>
          </a:xfrm>
          <a:prstGeom prst="rect">
            <a:avLst/>
          </a:prstGeom>
          <a:solidFill>
            <a:srgbClr val="B79A5E"/>
          </a:solidFill>
          <a:ln w="12700">
            <a:solidFill>
              <a:srgbClr val="B79A5E"/>
            </a:solidFill>
            <a:prstDash val="solid"/>
          </a:ln>
        </p:spPr>
      </p:sp>
      <p:sp>
        <p:nvSpPr>
          <p:cNvPr id="13" name="Text 8"/>
          <p:cNvSpPr txBox="1"/>
          <p:nvPr/>
        </p:nvSpPr>
        <p:spPr>
          <a:xfrm>
            <a:off x="731520" y="2743200"/>
            <a:ext cx="10607040" cy="3840480"/>
          </a:xfrm>
          <a:prstGeom prst="rect">
            <a:avLst/>
          </a:prstGeom>
          <a:noFill/>
          <a:ln/>
        </p:spPr>
        <p:txBody>
          <a:bodyPr wrap="square" lIns="0" tIns="0" rIns="0" bIns="0" rtlCol="0" anchor="t"/>
          <a:lstStyle/>
          <a:p>
            <a:pPr marL="342900" indent="-342900">
              <a:lnSpc>
                <a:spcPct val="115000"/>
              </a:lnSpc>
              <a:spcAft>
                <a:spcPts val="1400"/>
              </a:spcAft>
              <a:buSzPct val="100000"/>
              <a:buFont typeface="+mj-lt"/>
              <a:buAutoNum type="arabicPeriod" startAt="1"/>
            </a:pPr>
            <a:r>
              <a:rPr lang="en-US" sz="2000" dirty="0">
                <a:solidFill>
                  <a:srgbClr val="EAF1F7"/>
                </a:solidFill>
                <a:latin typeface="Calibri" pitchFamily="34" charset="0"/>
                <a:ea typeface="Calibri" pitchFamily="34" charset="-122"/>
                <a:cs typeface="Calibri" pitchFamily="34" charset="-120"/>
              </a:rPr>
              <a:t>iPhone or iPad: open pathway.witsahead.org in Safari, tap Share, then Add to Home Screen, then Add.</a:t>
            </a:r>
            <a:endParaRPr lang="en-US" sz="2000" dirty="0"/>
          </a:p>
          <a:p>
            <a:pPr marL="342900" indent="-342900">
              <a:lnSpc>
                <a:spcPct val="115000"/>
              </a:lnSpc>
              <a:spcAft>
                <a:spcPts val="1400"/>
              </a:spcAft>
              <a:buSzPct val="100000"/>
              <a:buFont typeface="+mj-lt"/>
              <a:buAutoNum type="arabicPeriod" startAt="1"/>
            </a:pPr>
            <a:r>
              <a:rPr lang="en-US" sz="2000" dirty="0">
                <a:solidFill>
                  <a:srgbClr val="EAF1F7"/>
                </a:solidFill>
                <a:latin typeface="Calibri" pitchFamily="34" charset="0"/>
                <a:ea typeface="Calibri" pitchFamily="34" charset="-122"/>
                <a:cs typeface="Calibri" pitchFamily="34" charset="-120"/>
              </a:rPr>
              <a:t>Android: open it in Chrome, tap the menu, then Add to Home screen or Install app.</a:t>
            </a:r>
            <a:endParaRPr lang="en-US" sz="2000" dirty="0"/>
          </a:p>
          <a:p>
            <a:pPr marL="342900" indent="-342900">
              <a:lnSpc>
                <a:spcPct val="115000"/>
              </a:lnSpc>
              <a:spcAft>
                <a:spcPts val="1400"/>
              </a:spcAft>
              <a:buSzPct val="100000"/>
              <a:buFont typeface="+mj-lt"/>
              <a:buAutoNum type="arabicPeriod" startAt="1"/>
            </a:pPr>
            <a:r>
              <a:rPr lang="en-US" sz="2000" dirty="0">
                <a:solidFill>
                  <a:srgbClr val="EAF1F7"/>
                </a:solidFill>
                <a:latin typeface="Calibri" pitchFamily="34" charset="0"/>
                <a:ea typeface="Calibri" pitchFamily="34" charset="-122"/>
                <a:cs typeface="Calibri" pitchFamily="34" charset="-120"/>
              </a:rPr>
              <a:t>Computer: open it in Chrome, Edge or Safari and click the install icon in the address bar; in Safari, File, then Add to Dock.</a:t>
            </a:r>
            <a:endParaRPr lang="en-US" sz="2000" dirty="0"/>
          </a:p>
          <a:p>
            <a:pPr marL="342900" indent="-342900">
              <a:lnSpc>
                <a:spcPct val="115000"/>
              </a:lnSpc>
              <a:spcAft>
                <a:spcPts val="1400"/>
              </a:spcAft>
              <a:buSzPct val="100000"/>
              <a:buFont typeface="+mj-lt"/>
              <a:buAutoNum type="arabicPeriod" startAt="1"/>
            </a:pPr>
            <a:r>
              <a:rPr lang="en-US" sz="2000" dirty="0">
                <a:solidFill>
                  <a:srgbClr val="EAF1F7"/>
                </a:solidFill>
                <a:latin typeface="Calibri" pitchFamily="34" charset="0"/>
                <a:ea typeface="Calibri" pitchFamily="34" charset="-122"/>
                <a:cs typeface="Calibri" pitchFamily="34" charset="-120"/>
              </a:rPr>
              <a:t>Bookmark it as well, in every browser you use. Any phone, any platform: you will never miss a message.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FFFF"/>
          </a:solidFill>
          <a:ln w="12700">
            <a:solidFill>
              <a:srgbClr val="FFFFFF"/>
            </a:solidFill>
            <a:prstDash val="solid"/>
          </a:ln>
        </p:spPr>
      </p:sp>
      <p:sp>
        <p:nvSpPr>
          <p:cNvPr id="3" name="Shape 1"/>
          <p:cNvSpPr/>
          <p:nvPr/>
        </p:nvSpPr>
        <p:spPr>
          <a:xfrm>
            <a:off x="0" y="923544"/>
            <a:ext cx="12188952" cy="36576"/>
          </a:xfrm>
          <a:prstGeom prst="rect">
            <a:avLst/>
          </a:prstGeom>
          <a:solidFill>
            <a:srgbClr val="B79A5E"/>
          </a:solidFill>
          <a:ln w="12700">
            <a:solidFill>
              <a:srgbClr val="B79A5E"/>
            </a:solidFill>
            <a:prstDash val="solid"/>
          </a:ln>
        </p:spPr>
      </p:sp>
      <p:pic>
        <p:nvPicPr>
          <p:cNvPr id="4" name="Image 0" descr="/Users/emmanuel_ojo/Library/CloudStorage/Dropbox/Claude Cowork/04 Grants &amp; Fellowships/Wits AHEAD Research Group/10 Website &amp; Daily Briefing/assets/wits-wsoe-lockup.png">    </p:cNvPr>
          <p:cNvPicPr>
            <a:picLocks noChangeAspect="1"/>
          </p:cNvPicPr>
          <p:nvPr/>
        </p:nvPicPr>
        <p:blipFill>
          <a:blip r:embed="rId2"/>
          <a:stretch>
            <a:fillRect/>
          </a:stretch>
        </p:blipFill>
        <p:spPr>
          <a:xfrm>
            <a:off x="731520" y="182880"/>
            <a:ext cx="3286461" cy="594360"/>
          </a:xfrm>
          <a:prstGeom prst="rect">
            <a:avLst/>
          </a:prstGeom>
        </p:spPr>
      </p:pic>
      <p:sp>
        <p:nvSpPr>
          <p:cNvPr id="5" name="Shape 2"/>
          <p:cNvSpPr/>
          <p:nvPr/>
        </p:nvSpPr>
        <p:spPr>
          <a:xfrm>
            <a:off x="4343400" y="182880"/>
            <a:ext cx="13716" cy="594360"/>
          </a:xfrm>
          <a:prstGeom prst="rect">
            <a:avLst/>
          </a:prstGeom>
          <a:solidFill>
            <a:srgbClr val="003B5C">
              <a:alpha val="50000"/>
            </a:srgbClr>
          </a:solidFill>
          <a:ln w="12700">
            <a:solidFill>
              <a:srgbClr val="003B5C">
                <a:alpha val="50000"/>
              </a:srgbClr>
            </a:solidFill>
            <a:prstDash val="solid"/>
          </a:ln>
        </p:spPr>
      </p:sp>
      <p:pic>
        <p:nvPicPr>
          <p:cNvPr id="6" name="Image 1" descr="/Users/emmanuel_ojo/Library/CloudStorage/Dropbox/Claude Cowork/04 Grants &amp; Fellowships/Wits AHEAD Research Group/10 Website &amp; Daily Briefing/site/assets/logo-600.png">    </p:cNvPr>
          <p:cNvPicPr>
            <a:picLocks noChangeAspect="1"/>
          </p:cNvPicPr>
          <p:nvPr/>
        </p:nvPicPr>
        <p:blipFill>
          <a:blip r:embed="rId3"/>
          <a:stretch>
            <a:fillRect/>
          </a:stretch>
        </p:blipFill>
        <p:spPr>
          <a:xfrm>
            <a:off x="4526280" y="182880"/>
            <a:ext cx="594360" cy="594360"/>
          </a:xfrm>
          <a:prstGeom prst="rect">
            <a:avLst/>
          </a:prstGeom>
        </p:spPr>
      </p:pic>
      <p:sp>
        <p:nvSpPr>
          <p:cNvPr id="7" name="Text 3"/>
          <p:cNvSpPr txBox="1"/>
          <p:nvPr/>
        </p:nvSpPr>
        <p:spPr>
          <a:xfrm>
            <a:off x="5257800" y="109728"/>
            <a:ext cx="4206240" cy="777240"/>
          </a:xfrm>
          <a:prstGeom prst="rect">
            <a:avLst/>
          </a:prstGeom>
          <a:noFill/>
          <a:ln/>
        </p:spPr>
        <p:txBody>
          <a:bodyPr wrap="square" lIns="0" tIns="0" rIns="0" bIns="0" rtlCol="0" anchor="ctr"/>
          <a:lstStyle/>
          <a:p>
            <a:pPr indent="0" marL="0">
              <a:lnSpc>
                <a:spcPct val="95000"/>
              </a:lnSpc>
              <a:buNone/>
            </a:pPr>
            <a:r>
              <a:rPr lang="en-US" sz="900" b="1" spc="600" kern="0" dirty="0">
                <a:solidFill>
                  <a:srgbClr val="B79A5E"/>
                </a:solidFill>
                <a:latin typeface="Calibri" pitchFamily="34" charset="0"/>
                <a:ea typeface="Calibri" pitchFamily="34" charset="-122"/>
                <a:cs typeface="Calibri" pitchFamily="34" charset="-120"/>
              </a:rPr>
              <a:t>WITS</a:t>
            </a:r>
            <a:endParaRPr lang="en-US" sz="900" dirty="0"/>
          </a:p>
          <a:p>
            <a:pPr indent="0" marL="0">
              <a:lnSpc>
                <a:spcPct val="95000"/>
              </a:lnSpc>
              <a:buNone/>
            </a:pPr>
            <a:r>
              <a:rPr lang="en-US" sz="2400" b="1" dirty="0">
                <a:solidFill>
                  <a:srgbClr val="003B5C"/>
                </a:solidFill>
                <a:latin typeface="Calibri" pitchFamily="34" charset="0"/>
                <a:ea typeface="Calibri" pitchFamily="34" charset="-122"/>
                <a:cs typeface="Calibri" pitchFamily="34" charset="-120"/>
              </a:rPr>
              <a:t>AHEAD</a:t>
            </a:r>
            <a:endParaRPr lang="en-US" sz="900" dirty="0"/>
          </a:p>
          <a:p>
            <a:pPr indent="0" marL="0">
              <a:lnSpc>
                <a:spcPct val="95000"/>
              </a:lnSpc>
              <a:buNone/>
            </a:pPr>
            <a:r>
              <a:rPr lang="en-US" sz="850" dirty="0">
                <a:solidFill>
                  <a:srgbClr val="333333"/>
                </a:solidFill>
                <a:latin typeface="Calibri" pitchFamily="34" charset="0"/>
                <a:ea typeface="Calibri" pitchFamily="34" charset="-122"/>
                <a:cs typeface="Calibri" pitchFamily="34" charset="-120"/>
              </a:rPr>
              <a:t>Research Group for Advancing Human Capabilities through Education, Analytics and Development</a:t>
            </a:r>
            <a:endParaRPr lang="en-US" sz="900" dirty="0"/>
          </a:p>
        </p:txBody>
      </p:sp>
      <p:sp>
        <p:nvSpPr>
          <p:cNvPr id="9" name="Text 4"/>
          <p:cNvSpPr txBox="1"/>
          <p:nvPr/>
        </p:nvSpPr>
        <p:spPr>
          <a:xfrm>
            <a:off x="731520" y="1325880"/>
            <a:ext cx="9601200" cy="320040"/>
          </a:xfrm>
          <a:prstGeom prst="rect">
            <a:avLst/>
          </a:prstGeom>
          <a:noFill/>
          <a:ln/>
        </p:spPr>
        <p:txBody>
          <a:bodyPr wrap="square" lIns="0" tIns="0" rIns="0" bIns="0" rtlCol="0" anchor="ctr"/>
          <a:lstStyle/>
          <a:p>
            <a:pPr indent="0" marL="0">
              <a:buNone/>
            </a:pPr>
            <a:r>
              <a:rPr lang="en-US" sz="1200" b="1" spc="400" kern="0" dirty="0">
                <a:solidFill>
                  <a:srgbClr val="B79A5E"/>
                </a:solidFill>
                <a:latin typeface="Calibri" pitchFamily="34" charset="0"/>
                <a:ea typeface="Calibri" pitchFamily="34" charset="-122"/>
                <a:cs typeface="Calibri" pitchFamily="34" charset="-120"/>
              </a:rPr>
              <a:t>STEP 2</a:t>
            </a:r>
            <a:endParaRPr lang="en-US" sz="1200" dirty="0"/>
          </a:p>
        </p:txBody>
      </p:sp>
      <p:sp>
        <p:nvSpPr>
          <p:cNvPr id="10" name="Text 5"/>
          <p:cNvSpPr txBox="1"/>
          <p:nvPr/>
        </p:nvSpPr>
        <p:spPr>
          <a:xfrm>
            <a:off x="10177272" y="6400800"/>
            <a:ext cx="1280160" cy="274320"/>
          </a:xfrm>
          <a:prstGeom prst="rect">
            <a:avLst/>
          </a:prstGeom>
          <a:noFill/>
          <a:ln/>
        </p:spPr>
        <p:txBody>
          <a:bodyPr wrap="square" lIns="0" tIns="0" rIns="0" bIns="0" rtlCol="0" anchor="ctr"/>
          <a:lstStyle/>
          <a:p>
            <a:pPr algn="r" indent="0" marL="0">
              <a:buNone/>
            </a:pPr>
            <a:r>
              <a:rPr lang="en-US" sz="1000" dirty="0">
                <a:solidFill>
                  <a:srgbClr val="B8CBDA"/>
                </a:solidFill>
                <a:latin typeface="Calibri" pitchFamily="34" charset="0"/>
                <a:ea typeface="Calibri" pitchFamily="34" charset="-122"/>
                <a:cs typeface="Calibri" pitchFamily="34" charset="-120"/>
              </a:rPr>
              <a:t>6 / 16</a:t>
            </a:r>
            <a:endParaRPr lang="en-US" sz="1000" dirty="0"/>
          </a:p>
        </p:txBody>
      </p:sp>
      <p:sp>
        <p:nvSpPr>
          <p:cNvPr id="11" name="Text 6"/>
          <p:cNvSpPr txBox="1"/>
          <p:nvPr/>
        </p:nvSpPr>
        <p:spPr>
          <a:xfrm>
            <a:off x="731520" y="1618488"/>
            <a:ext cx="10607040" cy="91440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Sign in with a code, no password</a:t>
            </a:r>
            <a:endParaRPr lang="en-US" sz="3400" dirty="0"/>
          </a:p>
        </p:txBody>
      </p:sp>
      <p:sp>
        <p:nvSpPr>
          <p:cNvPr id="12" name="Shape 7"/>
          <p:cNvSpPr/>
          <p:nvPr/>
        </p:nvSpPr>
        <p:spPr>
          <a:xfrm>
            <a:off x="731520" y="2532888"/>
            <a:ext cx="731520" cy="45720"/>
          </a:xfrm>
          <a:prstGeom prst="rect">
            <a:avLst/>
          </a:prstGeom>
          <a:solidFill>
            <a:srgbClr val="B79A5E"/>
          </a:solidFill>
          <a:ln w="12700">
            <a:solidFill>
              <a:srgbClr val="B79A5E"/>
            </a:solidFill>
            <a:prstDash val="solid"/>
          </a:ln>
        </p:spPr>
      </p:sp>
      <p:sp>
        <p:nvSpPr>
          <p:cNvPr id="13" name="Text 8"/>
          <p:cNvSpPr txBox="1"/>
          <p:nvPr/>
        </p:nvSpPr>
        <p:spPr>
          <a:xfrm>
            <a:off x="731520" y="2743200"/>
            <a:ext cx="10607040" cy="3840480"/>
          </a:xfrm>
          <a:prstGeom prst="rect">
            <a:avLst/>
          </a:prstGeom>
          <a:noFill/>
          <a:ln/>
        </p:spPr>
        <p:txBody>
          <a:bodyPr wrap="square" lIns="0" tIns="0" rIns="0" bIns="0" rtlCol="0" anchor="t"/>
          <a:lstStyle/>
          <a:p>
            <a:pPr marL="342900" indent="-342900">
              <a:lnSpc>
                <a:spcPct val="115000"/>
              </a:lnSpc>
              <a:spcAft>
                <a:spcPts val="1400"/>
              </a:spcAft>
              <a:buSzPct val="100000"/>
              <a:buFont typeface="+mj-lt"/>
              <a:buAutoNum type="arabicPeriod" startAt="1"/>
            </a:pPr>
            <a:r>
              <a:rPr lang="en-US" sz="2000" dirty="0">
                <a:solidFill>
                  <a:srgbClr val="EAF1F7"/>
                </a:solidFill>
                <a:latin typeface="Calibri" pitchFamily="34" charset="0"/>
                <a:ea typeface="Calibri" pitchFamily="34" charset="-122"/>
                <a:cs typeface="Calibri" pitchFamily="34" charset="-120"/>
              </a:rPr>
              <a:t>Open Pathway from its icon and enter your university email address.</a:t>
            </a:r>
            <a:endParaRPr lang="en-US" sz="2000" dirty="0"/>
          </a:p>
          <a:p>
            <a:pPr marL="342900" indent="-342900">
              <a:lnSpc>
                <a:spcPct val="115000"/>
              </a:lnSpc>
              <a:spcAft>
                <a:spcPts val="1400"/>
              </a:spcAft>
              <a:buSzPct val="100000"/>
              <a:buFont typeface="+mj-lt"/>
              <a:buAutoNum type="arabicPeriod" startAt="1"/>
            </a:pPr>
            <a:r>
              <a:rPr lang="en-US" sz="2000" dirty="0">
                <a:solidFill>
                  <a:srgbClr val="EAF1F7"/>
                </a:solidFill>
                <a:latin typeface="Calibri" pitchFamily="34" charset="0"/>
                <a:ea typeface="Calibri" pitchFamily="34" charset="-122"/>
                <a:cs typeface="Calibri" pitchFamily="34" charset="-120"/>
              </a:rPr>
              <a:t>A one-time code is emailed to you within a minute. Type it in, and you are in.</a:t>
            </a:r>
            <a:endParaRPr lang="en-US" sz="2000" dirty="0"/>
          </a:p>
          <a:p>
            <a:pPr marL="342900" indent="-342900">
              <a:lnSpc>
                <a:spcPct val="115000"/>
              </a:lnSpc>
              <a:spcAft>
                <a:spcPts val="1400"/>
              </a:spcAft>
              <a:buSzPct val="100000"/>
              <a:buFont typeface="+mj-lt"/>
              <a:buAutoNum type="arabicPeriod" startAt="1"/>
            </a:pPr>
            <a:r>
              <a:rPr lang="en-US" sz="2000" dirty="0">
                <a:solidFill>
                  <a:srgbClr val="EAF1F7"/>
                </a:solidFill>
                <a:latin typeface="Calibri" pitchFamily="34" charset="0"/>
                <a:ea typeface="Calibri" pitchFamily="34" charset="-122"/>
                <a:cs typeface="Calibri" pitchFamily="34" charset="-120"/>
              </a:rPr>
              <a:t>There is no password to remember or to lose.</a:t>
            </a:r>
            <a:endParaRPr lang="en-US" sz="2000" dirty="0"/>
          </a:p>
          <a:p>
            <a:pPr marL="342900" indent="-342900">
              <a:lnSpc>
                <a:spcPct val="115000"/>
              </a:lnSpc>
              <a:spcAft>
                <a:spcPts val="1400"/>
              </a:spcAft>
              <a:buSzPct val="100000"/>
              <a:buFont typeface="+mj-lt"/>
              <a:buAutoNum type="arabicPeriod" startAt="1"/>
            </a:pPr>
            <a:r>
              <a:rPr lang="en-US" sz="2000" dirty="0">
                <a:solidFill>
                  <a:srgbClr val="EAF1F7"/>
                </a:solidFill>
                <a:latin typeface="Calibri" pitchFamily="34" charset="0"/>
                <a:ea typeface="Calibri" pitchFamily="34" charset="-122"/>
                <a:cs typeface="Calibri" pitchFamily="34" charset="-120"/>
              </a:rPr>
              <a:t>If the code does not arrive, check your junk folder, then write to Director@WitsAHEAD.org.</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FFFF"/>
          </a:solidFill>
          <a:ln w="12700">
            <a:solidFill>
              <a:srgbClr val="FFFFFF"/>
            </a:solidFill>
            <a:prstDash val="solid"/>
          </a:ln>
        </p:spPr>
      </p:sp>
      <p:sp>
        <p:nvSpPr>
          <p:cNvPr id="3" name="Shape 1"/>
          <p:cNvSpPr/>
          <p:nvPr/>
        </p:nvSpPr>
        <p:spPr>
          <a:xfrm>
            <a:off x="0" y="923544"/>
            <a:ext cx="12188952" cy="36576"/>
          </a:xfrm>
          <a:prstGeom prst="rect">
            <a:avLst/>
          </a:prstGeom>
          <a:solidFill>
            <a:srgbClr val="B79A5E"/>
          </a:solidFill>
          <a:ln w="12700">
            <a:solidFill>
              <a:srgbClr val="B79A5E"/>
            </a:solidFill>
            <a:prstDash val="solid"/>
          </a:ln>
        </p:spPr>
      </p:sp>
      <p:pic>
        <p:nvPicPr>
          <p:cNvPr id="4" name="Image 0" descr="/Users/emmanuel_ojo/Library/CloudStorage/Dropbox/Claude Cowork/04 Grants &amp; Fellowships/Wits AHEAD Research Group/10 Website &amp; Daily Briefing/assets/wits-wsoe-lockup.png">    </p:cNvPr>
          <p:cNvPicPr>
            <a:picLocks noChangeAspect="1"/>
          </p:cNvPicPr>
          <p:nvPr/>
        </p:nvPicPr>
        <p:blipFill>
          <a:blip r:embed="rId2"/>
          <a:stretch>
            <a:fillRect/>
          </a:stretch>
        </p:blipFill>
        <p:spPr>
          <a:xfrm>
            <a:off x="731520" y="182880"/>
            <a:ext cx="3286461" cy="594360"/>
          </a:xfrm>
          <a:prstGeom prst="rect">
            <a:avLst/>
          </a:prstGeom>
        </p:spPr>
      </p:pic>
      <p:sp>
        <p:nvSpPr>
          <p:cNvPr id="5" name="Shape 2"/>
          <p:cNvSpPr/>
          <p:nvPr/>
        </p:nvSpPr>
        <p:spPr>
          <a:xfrm>
            <a:off x="4343400" y="182880"/>
            <a:ext cx="13716" cy="594360"/>
          </a:xfrm>
          <a:prstGeom prst="rect">
            <a:avLst/>
          </a:prstGeom>
          <a:solidFill>
            <a:srgbClr val="003B5C">
              <a:alpha val="50000"/>
            </a:srgbClr>
          </a:solidFill>
          <a:ln w="12700">
            <a:solidFill>
              <a:srgbClr val="003B5C">
                <a:alpha val="50000"/>
              </a:srgbClr>
            </a:solidFill>
            <a:prstDash val="solid"/>
          </a:ln>
        </p:spPr>
      </p:sp>
      <p:pic>
        <p:nvPicPr>
          <p:cNvPr id="6" name="Image 1" descr="/Users/emmanuel_ojo/Library/CloudStorage/Dropbox/Claude Cowork/04 Grants &amp; Fellowships/Wits AHEAD Research Group/10 Website &amp; Daily Briefing/site/assets/logo-600.png">    </p:cNvPr>
          <p:cNvPicPr>
            <a:picLocks noChangeAspect="1"/>
          </p:cNvPicPr>
          <p:nvPr/>
        </p:nvPicPr>
        <p:blipFill>
          <a:blip r:embed="rId3"/>
          <a:stretch>
            <a:fillRect/>
          </a:stretch>
        </p:blipFill>
        <p:spPr>
          <a:xfrm>
            <a:off x="4526280" y="182880"/>
            <a:ext cx="594360" cy="594360"/>
          </a:xfrm>
          <a:prstGeom prst="rect">
            <a:avLst/>
          </a:prstGeom>
        </p:spPr>
      </p:pic>
      <p:sp>
        <p:nvSpPr>
          <p:cNvPr id="7" name="Text 3"/>
          <p:cNvSpPr txBox="1"/>
          <p:nvPr/>
        </p:nvSpPr>
        <p:spPr>
          <a:xfrm>
            <a:off x="5257800" y="109728"/>
            <a:ext cx="4206240" cy="777240"/>
          </a:xfrm>
          <a:prstGeom prst="rect">
            <a:avLst/>
          </a:prstGeom>
          <a:noFill/>
          <a:ln/>
        </p:spPr>
        <p:txBody>
          <a:bodyPr wrap="square" lIns="0" tIns="0" rIns="0" bIns="0" rtlCol="0" anchor="ctr"/>
          <a:lstStyle/>
          <a:p>
            <a:pPr indent="0" marL="0">
              <a:lnSpc>
                <a:spcPct val="95000"/>
              </a:lnSpc>
              <a:buNone/>
            </a:pPr>
            <a:r>
              <a:rPr lang="en-US" sz="900" b="1" spc="600" kern="0" dirty="0">
                <a:solidFill>
                  <a:srgbClr val="B79A5E"/>
                </a:solidFill>
                <a:latin typeface="Calibri" pitchFamily="34" charset="0"/>
                <a:ea typeface="Calibri" pitchFamily="34" charset="-122"/>
                <a:cs typeface="Calibri" pitchFamily="34" charset="-120"/>
              </a:rPr>
              <a:t>WITS</a:t>
            </a:r>
            <a:endParaRPr lang="en-US" sz="900" dirty="0"/>
          </a:p>
          <a:p>
            <a:pPr indent="0" marL="0">
              <a:lnSpc>
                <a:spcPct val="95000"/>
              </a:lnSpc>
              <a:buNone/>
            </a:pPr>
            <a:r>
              <a:rPr lang="en-US" sz="2400" b="1" dirty="0">
                <a:solidFill>
                  <a:srgbClr val="003B5C"/>
                </a:solidFill>
                <a:latin typeface="Calibri" pitchFamily="34" charset="0"/>
                <a:ea typeface="Calibri" pitchFamily="34" charset="-122"/>
                <a:cs typeface="Calibri" pitchFamily="34" charset="-120"/>
              </a:rPr>
              <a:t>AHEAD</a:t>
            </a:r>
            <a:endParaRPr lang="en-US" sz="900" dirty="0"/>
          </a:p>
          <a:p>
            <a:pPr indent="0" marL="0">
              <a:lnSpc>
                <a:spcPct val="95000"/>
              </a:lnSpc>
              <a:buNone/>
            </a:pPr>
            <a:r>
              <a:rPr lang="en-US" sz="850" dirty="0">
                <a:solidFill>
                  <a:srgbClr val="333333"/>
                </a:solidFill>
                <a:latin typeface="Calibri" pitchFamily="34" charset="0"/>
                <a:ea typeface="Calibri" pitchFamily="34" charset="-122"/>
                <a:cs typeface="Calibri" pitchFamily="34" charset="-120"/>
              </a:rPr>
              <a:t>Research Group for Advancing Human Capabilities through Education, Analytics and Development</a:t>
            </a:r>
            <a:endParaRPr lang="en-US" sz="900" dirty="0"/>
          </a:p>
        </p:txBody>
      </p:sp>
      <p:sp>
        <p:nvSpPr>
          <p:cNvPr id="9" name="Text 4"/>
          <p:cNvSpPr txBox="1"/>
          <p:nvPr/>
        </p:nvSpPr>
        <p:spPr>
          <a:xfrm>
            <a:off x="731520" y="1325880"/>
            <a:ext cx="9601200" cy="320040"/>
          </a:xfrm>
          <a:prstGeom prst="rect">
            <a:avLst/>
          </a:prstGeom>
          <a:noFill/>
          <a:ln/>
        </p:spPr>
        <p:txBody>
          <a:bodyPr wrap="square" lIns="0" tIns="0" rIns="0" bIns="0" rtlCol="0" anchor="ctr"/>
          <a:lstStyle/>
          <a:p>
            <a:pPr indent="0" marL="0">
              <a:buNone/>
            </a:pPr>
            <a:r>
              <a:rPr lang="en-US" sz="1200" b="1" spc="400" kern="0" dirty="0">
                <a:solidFill>
                  <a:srgbClr val="B79A5E"/>
                </a:solidFill>
                <a:latin typeface="Calibri" pitchFamily="34" charset="0"/>
                <a:ea typeface="Calibri" pitchFamily="34" charset="-122"/>
                <a:cs typeface="Calibri" pitchFamily="34" charset="-120"/>
              </a:rPr>
              <a:t>STEP 3</a:t>
            </a:r>
            <a:endParaRPr lang="en-US" sz="1200" dirty="0"/>
          </a:p>
        </p:txBody>
      </p:sp>
      <p:sp>
        <p:nvSpPr>
          <p:cNvPr id="10" name="Text 5"/>
          <p:cNvSpPr txBox="1"/>
          <p:nvPr/>
        </p:nvSpPr>
        <p:spPr>
          <a:xfrm>
            <a:off x="10177272" y="6400800"/>
            <a:ext cx="1280160" cy="274320"/>
          </a:xfrm>
          <a:prstGeom prst="rect">
            <a:avLst/>
          </a:prstGeom>
          <a:noFill/>
          <a:ln/>
        </p:spPr>
        <p:txBody>
          <a:bodyPr wrap="square" lIns="0" tIns="0" rIns="0" bIns="0" rtlCol="0" anchor="ctr"/>
          <a:lstStyle/>
          <a:p>
            <a:pPr algn="r" indent="0" marL="0">
              <a:buNone/>
            </a:pPr>
            <a:r>
              <a:rPr lang="en-US" sz="1000" dirty="0">
                <a:solidFill>
                  <a:srgbClr val="B8CBDA"/>
                </a:solidFill>
                <a:latin typeface="Calibri" pitchFamily="34" charset="0"/>
                <a:ea typeface="Calibri" pitchFamily="34" charset="-122"/>
                <a:cs typeface="Calibri" pitchFamily="34" charset="-120"/>
              </a:rPr>
              <a:t>7 / 16</a:t>
            </a:r>
            <a:endParaRPr lang="en-US" sz="1000" dirty="0"/>
          </a:p>
        </p:txBody>
      </p:sp>
      <p:sp>
        <p:nvSpPr>
          <p:cNvPr id="11" name="Text 6"/>
          <p:cNvSpPr txBox="1"/>
          <p:nvPr/>
        </p:nvSpPr>
        <p:spPr>
          <a:xfrm>
            <a:off x="731520" y="1618488"/>
            <a:ext cx="10607040" cy="91440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Turn on notifications, once</a:t>
            </a:r>
            <a:endParaRPr lang="en-US" sz="3400" dirty="0"/>
          </a:p>
        </p:txBody>
      </p:sp>
      <p:sp>
        <p:nvSpPr>
          <p:cNvPr id="12" name="Shape 7"/>
          <p:cNvSpPr/>
          <p:nvPr/>
        </p:nvSpPr>
        <p:spPr>
          <a:xfrm>
            <a:off x="731520" y="2532888"/>
            <a:ext cx="731520" cy="45720"/>
          </a:xfrm>
          <a:prstGeom prst="rect">
            <a:avLst/>
          </a:prstGeom>
          <a:solidFill>
            <a:srgbClr val="B79A5E"/>
          </a:solidFill>
          <a:ln w="12700">
            <a:solidFill>
              <a:srgbClr val="B79A5E"/>
            </a:solidFill>
            <a:prstDash val="solid"/>
          </a:ln>
        </p:spPr>
      </p:sp>
      <p:sp>
        <p:nvSpPr>
          <p:cNvPr id="13" name="Text 8"/>
          <p:cNvSpPr txBox="1"/>
          <p:nvPr/>
        </p:nvSpPr>
        <p:spPr>
          <a:xfrm>
            <a:off x="731520" y="2743200"/>
            <a:ext cx="10607040" cy="3840480"/>
          </a:xfrm>
          <a:prstGeom prst="rect">
            <a:avLst/>
          </a:prstGeom>
          <a:noFill/>
          <a:ln/>
        </p:spPr>
        <p:txBody>
          <a:bodyPr wrap="square" lIns="0" tIns="0" rIns="0" bIns="0" rtlCol="0" anchor="t"/>
          <a:lstStyle/>
          <a:p>
            <a:pPr marL="342900" indent="-342900">
              <a:lnSpc>
                <a:spcPct val="115000"/>
              </a:lnSpc>
              <a:spcAft>
                <a:spcPts val="1400"/>
              </a:spcAft>
              <a:buSzPct val="100000"/>
              <a:buFont typeface="+mj-lt"/>
              <a:buAutoNum type="arabicPeriod" startAt="1"/>
            </a:pPr>
            <a:r>
              <a:rPr lang="en-US" sz="2000" dirty="0">
                <a:solidFill>
                  <a:srgbClr val="EAF1F7"/>
                </a:solidFill>
                <a:latin typeface="Calibri" pitchFamily="34" charset="0"/>
                <a:ea typeface="Calibri" pitchFamily="34" charset="-122"/>
                <a:cs typeface="Calibri" pitchFamily="34" charset="-120"/>
              </a:rPr>
              <a:t>Inside the app, tap the bell, press Turn on, and tap Allow when your phone asks.</a:t>
            </a:r>
            <a:endParaRPr lang="en-US" sz="2000" dirty="0"/>
          </a:p>
          <a:p>
            <a:pPr marL="342900" indent="-342900">
              <a:lnSpc>
                <a:spcPct val="115000"/>
              </a:lnSpc>
              <a:spcAft>
                <a:spcPts val="1400"/>
              </a:spcAft>
              <a:buSzPct val="100000"/>
              <a:buFont typeface="+mj-lt"/>
              <a:buAutoNum type="arabicPeriod" startAt="1"/>
            </a:pPr>
            <a:r>
              <a:rPr lang="en-US" sz="2000" dirty="0">
                <a:solidFill>
                  <a:srgbClr val="EAF1F7"/>
                </a:solidFill>
                <a:latin typeface="Calibri" pitchFamily="34" charset="0"/>
                <a:ea typeface="Calibri" pitchFamily="34" charset="-122"/>
                <a:cs typeface="Calibri" pitchFamily="34" charset="-120"/>
              </a:rPr>
              <a:t>From then on, feedback, messages, calls and meeting records ring on your phone, even when the app is closed.</a:t>
            </a:r>
            <a:endParaRPr lang="en-US" sz="2000" dirty="0"/>
          </a:p>
          <a:p>
            <a:pPr marL="342900" indent="-342900">
              <a:lnSpc>
                <a:spcPct val="115000"/>
              </a:lnSpc>
              <a:spcAft>
                <a:spcPts val="1400"/>
              </a:spcAft>
              <a:buSzPct val="100000"/>
              <a:buFont typeface="+mj-lt"/>
              <a:buAutoNum type="arabicPeriod" startAt="1"/>
            </a:pPr>
            <a:r>
              <a:rPr lang="en-US" sz="2000" dirty="0">
                <a:solidFill>
                  <a:srgbClr val="EAF1F7"/>
                </a:solidFill>
                <a:latin typeface="Calibri" pitchFamily="34" charset="0"/>
                <a:ea typeface="Calibri" pitchFamily="34" charset="-122"/>
                <a:cs typeface="Calibri" pitchFamily="34" charset="-120"/>
              </a:rPr>
              <a:t>A small number on the icon shows what is waiting.</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FFFF"/>
          </a:solidFill>
          <a:ln w="12700">
            <a:solidFill>
              <a:srgbClr val="FFFFFF"/>
            </a:solidFill>
            <a:prstDash val="solid"/>
          </a:ln>
        </p:spPr>
      </p:sp>
      <p:sp>
        <p:nvSpPr>
          <p:cNvPr id="3" name="Shape 1"/>
          <p:cNvSpPr/>
          <p:nvPr/>
        </p:nvSpPr>
        <p:spPr>
          <a:xfrm>
            <a:off x="0" y="923544"/>
            <a:ext cx="12188952" cy="36576"/>
          </a:xfrm>
          <a:prstGeom prst="rect">
            <a:avLst/>
          </a:prstGeom>
          <a:solidFill>
            <a:srgbClr val="B79A5E"/>
          </a:solidFill>
          <a:ln w="12700">
            <a:solidFill>
              <a:srgbClr val="B79A5E"/>
            </a:solidFill>
            <a:prstDash val="solid"/>
          </a:ln>
        </p:spPr>
      </p:sp>
      <p:pic>
        <p:nvPicPr>
          <p:cNvPr id="4" name="Image 0" descr="/Users/emmanuel_ojo/Library/CloudStorage/Dropbox/Claude Cowork/04 Grants &amp; Fellowships/Wits AHEAD Research Group/10 Website &amp; Daily Briefing/assets/wits-wsoe-lockup.png">    </p:cNvPr>
          <p:cNvPicPr>
            <a:picLocks noChangeAspect="1"/>
          </p:cNvPicPr>
          <p:nvPr/>
        </p:nvPicPr>
        <p:blipFill>
          <a:blip r:embed="rId2"/>
          <a:stretch>
            <a:fillRect/>
          </a:stretch>
        </p:blipFill>
        <p:spPr>
          <a:xfrm>
            <a:off x="731520" y="182880"/>
            <a:ext cx="3286461" cy="594360"/>
          </a:xfrm>
          <a:prstGeom prst="rect">
            <a:avLst/>
          </a:prstGeom>
        </p:spPr>
      </p:pic>
      <p:sp>
        <p:nvSpPr>
          <p:cNvPr id="5" name="Shape 2"/>
          <p:cNvSpPr/>
          <p:nvPr/>
        </p:nvSpPr>
        <p:spPr>
          <a:xfrm>
            <a:off x="4343400" y="182880"/>
            <a:ext cx="13716" cy="594360"/>
          </a:xfrm>
          <a:prstGeom prst="rect">
            <a:avLst/>
          </a:prstGeom>
          <a:solidFill>
            <a:srgbClr val="003B5C">
              <a:alpha val="50000"/>
            </a:srgbClr>
          </a:solidFill>
          <a:ln w="12700">
            <a:solidFill>
              <a:srgbClr val="003B5C">
                <a:alpha val="50000"/>
              </a:srgbClr>
            </a:solidFill>
            <a:prstDash val="solid"/>
          </a:ln>
        </p:spPr>
      </p:sp>
      <p:pic>
        <p:nvPicPr>
          <p:cNvPr id="6" name="Image 1" descr="/Users/emmanuel_ojo/Library/CloudStorage/Dropbox/Claude Cowork/04 Grants &amp; Fellowships/Wits AHEAD Research Group/10 Website &amp; Daily Briefing/site/assets/logo-600.png">    </p:cNvPr>
          <p:cNvPicPr>
            <a:picLocks noChangeAspect="1"/>
          </p:cNvPicPr>
          <p:nvPr/>
        </p:nvPicPr>
        <p:blipFill>
          <a:blip r:embed="rId3"/>
          <a:stretch>
            <a:fillRect/>
          </a:stretch>
        </p:blipFill>
        <p:spPr>
          <a:xfrm>
            <a:off x="4526280" y="182880"/>
            <a:ext cx="594360" cy="594360"/>
          </a:xfrm>
          <a:prstGeom prst="rect">
            <a:avLst/>
          </a:prstGeom>
        </p:spPr>
      </p:pic>
      <p:sp>
        <p:nvSpPr>
          <p:cNvPr id="7" name="Text 3"/>
          <p:cNvSpPr txBox="1"/>
          <p:nvPr/>
        </p:nvSpPr>
        <p:spPr>
          <a:xfrm>
            <a:off x="5257800" y="109728"/>
            <a:ext cx="4206240" cy="777240"/>
          </a:xfrm>
          <a:prstGeom prst="rect">
            <a:avLst/>
          </a:prstGeom>
          <a:noFill/>
          <a:ln/>
        </p:spPr>
        <p:txBody>
          <a:bodyPr wrap="square" lIns="0" tIns="0" rIns="0" bIns="0" rtlCol="0" anchor="ctr"/>
          <a:lstStyle/>
          <a:p>
            <a:pPr indent="0" marL="0">
              <a:lnSpc>
                <a:spcPct val="95000"/>
              </a:lnSpc>
              <a:buNone/>
            </a:pPr>
            <a:r>
              <a:rPr lang="en-US" sz="900" b="1" spc="600" kern="0" dirty="0">
                <a:solidFill>
                  <a:srgbClr val="B79A5E"/>
                </a:solidFill>
                <a:latin typeface="Calibri" pitchFamily="34" charset="0"/>
                <a:ea typeface="Calibri" pitchFamily="34" charset="-122"/>
                <a:cs typeface="Calibri" pitchFamily="34" charset="-120"/>
              </a:rPr>
              <a:t>WITS</a:t>
            </a:r>
            <a:endParaRPr lang="en-US" sz="900" dirty="0"/>
          </a:p>
          <a:p>
            <a:pPr indent="0" marL="0">
              <a:lnSpc>
                <a:spcPct val="95000"/>
              </a:lnSpc>
              <a:buNone/>
            </a:pPr>
            <a:r>
              <a:rPr lang="en-US" sz="2400" b="1" dirty="0">
                <a:solidFill>
                  <a:srgbClr val="003B5C"/>
                </a:solidFill>
                <a:latin typeface="Calibri" pitchFamily="34" charset="0"/>
                <a:ea typeface="Calibri" pitchFamily="34" charset="-122"/>
                <a:cs typeface="Calibri" pitchFamily="34" charset="-120"/>
              </a:rPr>
              <a:t>AHEAD</a:t>
            </a:r>
            <a:endParaRPr lang="en-US" sz="900" dirty="0"/>
          </a:p>
          <a:p>
            <a:pPr indent="0" marL="0">
              <a:lnSpc>
                <a:spcPct val="95000"/>
              </a:lnSpc>
              <a:buNone/>
            </a:pPr>
            <a:r>
              <a:rPr lang="en-US" sz="850" dirty="0">
                <a:solidFill>
                  <a:srgbClr val="333333"/>
                </a:solidFill>
                <a:latin typeface="Calibri" pitchFamily="34" charset="0"/>
                <a:ea typeface="Calibri" pitchFamily="34" charset="-122"/>
                <a:cs typeface="Calibri" pitchFamily="34" charset="-120"/>
              </a:rPr>
              <a:t>Research Group for Advancing Human Capabilities through Education, Analytics and Development</a:t>
            </a:r>
            <a:endParaRPr lang="en-US" sz="900" dirty="0"/>
          </a:p>
        </p:txBody>
      </p:sp>
      <p:sp>
        <p:nvSpPr>
          <p:cNvPr id="9" name="Text 4"/>
          <p:cNvSpPr txBox="1"/>
          <p:nvPr/>
        </p:nvSpPr>
        <p:spPr>
          <a:xfrm>
            <a:off x="731520" y="1325880"/>
            <a:ext cx="9601200" cy="320040"/>
          </a:xfrm>
          <a:prstGeom prst="rect">
            <a:avLst/>
          </a:prstGeom>
          <a:noFill/>
          <a:ln/>
        </p:spPr>
        <p:txBody>
          <a:bodyPr wrap="square" lIns="0" tIns="0" rIns="0" bIns="0" rtlCol="0" anchor="ctr"/>
          <a:lstStyle/>
          <a:p>
            <a:pPr indent="0" marL="0">
              <a:buNone/>
            </a:pPr>
            <a:r>
              <a:rPr lang="en-US" sz="1200" b="1" spc="400" kern="0" dirty="0">
                <a:solidFill>
                  <a:srgbClr val="B79A5E"/>
                </a:solidFill>
                <a:latin typeface="Calibri" pitchFamily="34" charset="0"/>
                <a:ea typeface="Calibri" pitchFamily="34" charset="-122"/>
                <a:cs typeface="Calibri" pitchFamily="34" charset="-120"/>
              </a:rPr>
              <a:t>YOUR RECORD</a:t>
            </a:r>
            <a:endParaRPr lang="en-US" sz="1200" dirty="0"/>
          </a:p>
        </p:txBody>
      </p:sp>
      <p:sp>
        <p:nvSpPr>
          <p:cNvPr id="10" name="Text 5"/>
          <p:cNvSpPr txBox="1"/>
          <p:nvPr/>
        </p:nvSpPr>
        <p:spPr>
          <a:xfrm>
            <a:off x="10177272" y="6400800"/>
            <a:ext cx="1280160" cy="274320"/>
          </a:xfrm>
          <a:prstGeom prst="rect">
            <a:avLst/>
          </a:prstGeom>
          <a:noFill/>
          <a:ln/>
        </p:spPr>
        <p:txBody>
          <a:bodyPr wrap="square" lIns="0" tIns="0" rIns="0" bIns="0" rtlCol="0" anchor="ctr"/>
          <a:lstStyle/>
          <a:p>
            <a:pPr algn="r" indent="0" marL="0">
              <a:buNone/>
            </a:pPr>
            <a:r>
              <a:rPr lang="en-US" sz="1000" dirty="0">
                <a:solidFill>
                  <a:srgbClr val="B8CBDA"/>
                </a:solidFill>
                <a:latin typeface="Calibri" pitchFamily="34" charset="0"/>
                <a:ea typeface="Calibri" pitchFamily="34" charset="-122"/>
                <a:cs typeface="Calibri" pitchFamily="34" charset="-120"/>
              </a:rPr>
              <a:t>8 / 16</a:t>
            </a:r>
            <a:endParaRPr lang="en-US" sz="1000" dirty="0"/>
          </a:p>
        </p:txBody>
      </p:sp>
      <p:sp>
        <p:nvSpPr>
          <p:cNvPr id="11" name="Text 6"/>
          <p:cNvSpPr txBox="1"/>
          <p:nvPr/>
        </p:nvSpPr>
        <p:spPr>
          <a:xfrm>
            <a:off x="731520" y="1618488"/>
            <a:ext cx="10607040" cy="91440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Your overview, at a glance</a:t>
            </a:r>
            <a:endParaRPr lang="en-US" sz="3000" dirty="0"/>
          </a:p>
        </p:txBody>
      </p:sp>
      <p:sp>
        <p:nvSpPr>
          <p:cNvPr id="12" name="Shape 7"/>
          <p:cNvSpPr/>
          <p:nvPr/>
        </p:nvSpPr>
        <p:spPr>
          <a:xfrm>
            <a:off x="731520" y="2532888"/>
            <a:ext cx="731520" cy="45720"/>
          </a:xfrm>
          <a:prstGeom prst="rect">
            <a:avLst/>
          </a:prstGeom>
          <a:solidFill>
            <a:srgbClr val="B79A5E"/>
          </a:solidFill>
          <a:ln w="12700">
            <a:solidFill>
              <a:srgbClr val="B79A5E"/>
            </a:solidFill>
            <a:prstDash val="solid"/>
          </a:ln>
        </p:spPr>
      </p:sp>
      <p:pic>
        <p:nvPicPr>
          <p:cNvPr id="13" name="Image 2" descr="/Users/emmanuel_ojo/Library/CloudStorage/Dropbox/Claude Cowork/04 Grants &amp; Fellowships/Wits AHEAD Research Group/11 AHEAD Pathway (supervision platform)/Onboarding/shots/overview.png">    </p:cNvPr>
          <p:cNvPicPr>
            <a:picLocks noChangeAspect="1"/>
          </p:cNvPicPr>
          <p:nvPr/>
        </p:nvPicPr>
        <p:blipFill>
          <a:blip r:embed="rId4"/>
          <a:srcRect l="0" r="0" t="0" b="0"/>
          <a:stretch/>
        </p:blipFill>
        <p:spPr>
          <a:xfrm>
            <a:off x="731520" y="2743200"/>
            <a:ext cx="6583680" cy="3474720"/>
          </a:xfrm>
          <a:prstGeom prst="rect">
            <a:avLst/>
          </a:prstGeom>
          <a:effectLst>
            <a:outerShdw sx="100000" sy="100000" kx="0" ky="0" algn="bl" rotWithShape="0" blurRad="177800" dist="63500" dir="5400000">
              <a:srgbClr val="000000">
                <a:alpha val="45000"/>
              </a:srgbClr>
            </a:outerShdw>
          </a:effectLst>
        </p:spPr>
      </p:pic>
      <p:sp>
        <p:nvSpPr>
          <p:cNvPr id="14" name="Text 8"/>
          <p:cNvSpPr txBox="1"/>
          <p:nvPr/>
        </p:nvSpPr>
        <p:spPr>
          <a:xfrm>
            <a:off x="731520" y="6263640"/>
            <a:ext cx="6583680" cy="502920"/>
          </a:xfrm>
          <a:prstGeom prst="rect">
            <a:avLst/>
          </a:prstGeom>
          <a:noFill/>
          <a:ln/>
        </p:spPr>
        <p:txBody>
          <a:bodyPr wrap="square" lIns="0" tIns="0" rIns="0" bIns="0" rtlCol="0" anchor="ctr"/>
          <a:lstStyle/>
          <a:p>
            <a:pPr indent="0" marL="0">
              <a:buNone/>
            </a:pPr>
            <a:r>
              <a:rPr lang="en-US" sz="1100" dirty="0">
                <a:solidFill>
                  <a:srgbClr val="B8CBDA"/>
                </a:solidFill>
                <a:latin typeface="Calibri" pitchFamily="34" charset="0"/>
                <a:ea typeface="Calibri" pitchFamily="34" charset="-122"/>
                <a:cs typeface="Calibri" pitchFamily="34" charset="-120"/>
              </a:rPr>
              <a:t>The overview: your progress on the pathway, what is due, and quick links.</a:t>
            </a:r>
            <a:endParaRPr lang="en-US" sz="1100" dirty="0"/>
          </a:p>
        </p:txBody>
      </p:sp>
      <p:sp>
        <p:nvSpPr>
          <p:cNvPr id="15" name="Text 9"/>
          <p:cNvSpPr txBox="1"/>
          <p:nvPr/>
        </p:nvSpPr>
        <p:spPr>
          <a:xfrm>
            <a:off x="7589520" y="2788920"/>
            <a:ext cx="4023360" cy="384048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Your milestones from registration to graduation, and how far along you are.</a:t>
            </a:r>
            <a:endParaRPr lang="en-US" sz="1500" dirty="0"/>
          </a:p>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Your registration for the year, your documents, and anything waiting for you.</a:t>
            </a:r>
            <a:endParaRPr lang="en-US" sz="1500" dirty="0"/>
          </a:p>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Complete your profile and the consent statement on your first visit.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FFFF"/>
          </a:solidFill>
          <a:ln w="12700">
            <a:solidFill>
              <a:srgbClr val="FFFFFF"/>
            </a:solidFill>
            <a:prstDash val="solid"/>
          </a:ln>
        </p:spPr>
      </p:sp>
      <p:sp>
        <p:nvSpPr>
          <p:cNvPr id="3" name="Shape 1"/>
          <p:cNvSpPr/>
          <p:nvPr/>
        </p:nvSpPr>
        <p:spPr>
          <a:xfrm>
            <a:off x="0" y="923544"/>
            <a:ext cx="12188952" cy="36576"/>
          </a:xfrm>
          <a:prstGeom prst="rect">
            <a:avLst/>
          </a:prstGeom>
          <a:solidFill>
            <a:srgbClr val="B79A5E"/>
          </a:solidFill>
          <a:ln w="12700">
            <a:solidFill>
              <a:srgbClr val="B79A5E"/>
            </a:solidFill>
            <a:prstDash val="solid"/>
          </a:ln>
        </p:spPr>
      </p:sp>
      <p:pic>
        <p:nvPicPr>
          <p:cNvPr id="4" name="Image 0" descr="/Users/emmanuel_ojo/Library/CloudStorage/Dropbox/Claude Cowork/04 Grants &amp; Fellowships/Wits AHEAD Research Group/10 Website &amp; Daily Briefing/assets/wits-wsoe-lockup.png">    </p:cNvPr>
          <p:cNvPicPr>
            <a:picLocks noChangeAspect="1"/>
          </p:cNvPicPr>
          <p:nvPr/>
        </p:nvPicPr>
        <p:blipFill>
          <a:blip r:embed="rId2"/>
          <a:stretch>
            <a:fillRect/>
          </a:stretch>
        </p:blipFill>
        <p:spPr>
          <a:xfrm>
            <a:off x="731520" y="182880"/>
            <a:ext cx="3286461" cy="594360"/>
          </a:xfrm>
          <a:prstGeom prst="rect">
            <a:avLst/>
          </a:prstGeom>
        </p:spPr>
      </p:pic>
      <p:sp>
        <p:nvSpPr>
          <p:cNvPr id="5" name="Shape 2"/>
          <p:cNvSpPr/>
          <p:nvPr/>
        </p:nvSpPr>
        <p:spPr>
          <a:xfrm>
            <a:off x="4343400" y="182880"/>
            <a:ext cx="13716" cy="594360"/>
          </a:xfrm>
          <a:prstGeom prst="rect">
            <a:avLst/>
          </a:prstGeom>
          <a:solidFill>
            <a:srgbClr val="003B5C">
              <a:alpha val="50000"/>
            </a:srgbClr>
          </a:solidFill>
          <a:ln w="12700">
            <a:solidFill>
              <a:srgbClr val="003B5C">
                <a:alpha val="50000"/>
              </a:srgbClr>
            </a:solidFill>
            <a:prstDash val="solid"/>
          </a:ln>
        </p:spPr>
      </p:sp>
      <p:pic>
        <p:nvPicPr>
          <p:cNvPr id="6" name="Image 1" descr="/Users/emmanuel_ojo/Library/CloudStorage/Dropbox/Claude Cowork/04 Grants &amp; Fellowships/Wits AHEAD Research Group/10 Website &amp; Daily Briefing/site/assets/logo-600.png">    </p:cNvPr>
          <p:cNvPicPr>
            <a:picLocks noChangeAspect="1"/>
          </p:cNvPicPr>
          <p:nvPr/>
        </p:nvPicPr>
        <p:blipFill>
          <a:blip r:embed="rId3"/>
          <a:stretch>
            <a:fillRect/>
          </a:stretch>
        </p:blipFill>
        <p:spPr>
          <a:xfrm>
            <a:off x="4526280" y="182880"/>
            <a:ext cx="594360" cy="594360"/>
          </a:xfrm>
          <a:prstGeom prst="rect">
            <a:avLst/>
          </a:prstGeom>
        </p:spPr>
      </p:pic>
      <p:sp>
        <p:nvSpPr>
          <p:cNvPr id="7" name="Text 3"/>
          <p:cNvSpPr txBox="1"/>
          <p:nvPr/>
        </p:nvSpPr>
        <p:spPr>
          <a:xfrm>
            <a:off x="5257800" y="109728"/>
            <a:ext cx="4206240" cy="777240"/>
          </a:xfrm>
          <a:prstGeom prst="rect">
            <a:avLst/>
          </a:prstGeom>
          <a:noFill/>
          <a:ln/>
        </p:spPr>
        <p:txBody>
          <a:bodyPr wrap="square" lIns="0" tIns="0" rIns="0" bIns="0" rtlCol="0" anchor="ctr"/>
          <a:lstStyle/>
          <a:p>
            <a:pPr indent="0" marL="0">
              <a:lnSpc>
                <a:spcPct val="95000"/>
              </a:lnSpc>
              <a:buNone/>
            </a:pPr>
            <a:r>
              <a:rPr lang="en-US" sz="900" b="1" spc="600" kern="0" dirty="0">
                <a:solidFill>
                  <a:srgbClr val="B79A5E"/>
                </a:solidFill>
                <a:latin typeface="Calibri" pitchFamily="34" charset="0"/>
                <a:ea typeface="Calibri" pitchFamily="34" charset="-122"/>
                <a:cs typeface="Calibri" pitchFamily="34" charset="-120"/>
              </a:rPr>
              <a:t>WITS</a:t>
            </a:r>
            <a:endParaRPr lang="en-US" sz="900" dirty="0"/>
          </a:p>
          <a:p>
            <a:pPr indent="0" marL="0">
              <a:lnSpc>
                <a:spcPct val="95000"/>
              </a:lnSpc>
              <a:buNone/>
            </a:pPr>
            <a:r>
              <a:rPr lang="en-US" sz="2400" b="1" dirty="0">
                <a:solidFill>
                  <a:srgbClr val="003B5C"/>
                </a:solidFill>
                <a:latin typeface="Calibri" pitchFamily="34" charset="0"/>
                <a:ea typeface="Calibri" pitchFamily="34" charset="-122"/>
                <a:cs typeface="Calibri" pitchFamily="34" charset="-120"/>
              </a:rPr>
              <a:t>AHEAD</a:t>
            </a:r>
            <a:endParaRPr lang="en-US" sz="900" dirty="0"/>
          </a:p>
          <a:p>
            <a:pPr indent="0" marL="0">
              <a:lnSpc>
                <a:spcPct val="95000"/>
              </a:lnSpc>
              <a:buNone/>
            </a:pPr>
            <a:r>
              <a:rPr lang="en-US" sz="850" dirty="0">
                <a:solidFill>
                  <a:srgbClr val="333333"/>
                </a:solidFill>
                <a:latin typeface="Calibri" pitchFamily="34" charset="0"/>
                <a:ea typeface="Calibri" pitchFamily="34" charset="-122"/>
                <a:cs typeface="Calibri" pitchFamily="34" charset="-120"/>
              </a:rPr>
              <a:t>Research Group for Advancing Human Capabilities through Education, Analytics and Development</a:t>
            </a:r>
            <a:endParaRPr lang="en-US" sz="900" dirty="0"/>
          </a:p>
        </p:txBody>
      </p:sp>
      <p:sp>
        <p:nvSpPr>
          <p:cNvPr id="9" name="Text 4"/>
          <p:cNvSpPr txBox="1"/>
          <p:nvPr/>
        </p:nvSpPr>
        <p:spPr>
          <a:xfrm>
            <a:off x="731520" y="1325880"/>
            <a:ext cx="9601200" cy="320040"/>
          </a:xfrm>
          <a:prstGeom prst="rect">
            <a:avLst/>
          </a:prstGeom>
          <a:noFill/>
          <a:ln/>
        </p:spPr>
        <p:txBody>
          <a:bodyPr wrap="square" lIns="0" tIns="0" rIns="0" bIns="0" rtlCol="0" anchor="ctr"/>
          <a:lstStyle/>
          <a:p>
            <a:pPr indent="0" marL="0">
              <a:buNone/>
            </a:pPr>
            <a:r>
              <a:rPr lang="en-US" sz="1200" b="1" spc="400" kern="0" dirty="0">
                <a:solidFill>
                  <a:srgbClr val="B79A5E"/>
                </a:solidFill>
                <a:latin typeface="Calibri" pitchFamily="34" charset="0"/>
                <a:ea typeface="Calibri" pitchFamily="34" charset="-122"/>
                <a:cs typeface="Calibri" pitchFamily="34" charset="-120"/>
              </a:rPr>
              <a:t>DOCUMENTS</a:t>
            </a:r>
            <a:endParaRPr lang="en-US" sz="1200" dirty="0"/>
          </a:p>
        </p:txBody>
      </p:sp>
      <p:sp>
        <p:nvSpPr>
          <p:cNvPr id="10" name="Text 5"/>
          <p:cNvSpPr txBox="1"/>
          <p:nvPr/>
        </p:nvSpPr>
        <p:spPr>
          <a:xfrm>
            <a:off x="10177272" y="6400800"/>
            <a:ext cx="1280160" cy="274320"/>
          </a:xfrm>
          <a:prstGeom prst="rect">
            <a:avLst/>
          </a:prstGeom>
          <a:noFill/>
          <a:ln/>
        </p:spPr>
        <p:txBody>
          <a:bodyPr wrap="square" lIns="0" tIns="0" rIns="0" bIns="0" rtlCol="0" anchor="ctr"/>
          <a:lstStyle/>
          <a:p>
            <a:pPr algn="r" indent="0" marL="0">
              <a:buNone/>
            </a:pPr>
            <a:r>
              <a:rPr lang="en-US" sz="1000" dirty="0">
                <a:solidFill>
                  <a:srgbClr val="B8CBDA"/>
                </a:solidFill>
                <a:latin typeface="Calibri" pitchFamily="34" charset="0"/>
                <a:ea typeface="Calibri" pitchFamily="34" charset="-122"/>
                <a:cs typeface="Calibri" pitchFamily="34" charset="-120"/>
              </a:rPr>
              <a:t>9 / 16</a:t>
            </a:r>
            <a:endParaRPr lang="en-US" sz="1000" dirty="0"/>
          </a:p>
        </p:txBody>
      </p:sp>
      <p:sp>
        <p:nvSpPr>
          <p:cNvPr id="11" name="Text 6"/>
          <p:cNvSpPr txBox="1"/>
          <p:nvPr/>
        </p:nvSpPr>
        <p:spPr>
          <a:xfrm>
            <a:off x="731520" y="1618488"/>
            <a:ext cx="10607040" cy="91440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Upload your work, version by version</a:t>
            </a:r>
            <a:endParaRPr lang="en-US" sz="3000" dirty="0"/>
          </a:p>
        </p:txBody>
      </p:sp>
      <p:sp>
        <p:nvSpPr>
          <p:cNvPr id="12" name="Shape 7"/>
          <p:cNvSpPr/>
          <p:nvPr/>
        </p:nvSpPr>
        <p:spPr>
          <a:xfrm>
            <a:off x="731520" y="2532888"/>
            <a:ext cx="731520" cy="45720"/>
          </a:xfrm>
          <a:prstGeom prst="rect">
            <a:avLst/>
          </a:prstGeom>
          <a:solidFill>
            <a:srgbClr val="B79A5E"/>
          </a:solidFill>
          <a:ln w="12700">
            <a:solidFill>
              <a:srgbClr val="B79A5E"/>
            </a:solidFill>
            <a:prstDash val="solid"/>
          </a:ln>
        </p:spPr>
      </p:sp>
      <p:pic>
        <p:nvPicPr>
          <p:cNvPr id="13" name="Image 2" descr="/Users/emmanuel_ojo/Library/CloudStorage/Dropbox/Claude Cowork/04 Grants &amp; Fellowships/Wits AHEAD Research Group/11 AHEAD Pathway (supervision platform)/Onboarding/shots/documents.png">    </p:cNvPr>
          <p:cNvPicPr>
            <a:picLocks noChangeAspect="1"/>
          </p:cNvPicPr>
          <p:nvPr/>
        </p:nvPicPr>
        <p:blipFill>
          <a:blip r:embed="rId4"/>
          <a:srcRect l="0" r="0" t="0" b="0"/>
          <a:stretch/>
        </p:blipFill>
        <p:spPr>
          <a:xfrm>
            <a:off x="731520" y="2743200"/>
            <a:ext cx="6583680" cy="3474720"/>
          </a:xfrm>
          <a:prstGeom prst="rect">
            <a:avLst/>
          </a:prstGeom>
          <a:effectLst>
            <a:outerShdw sx="100000" sy="100000" kx="0" ky="0" algn="bl" rotWithShape="0" blurRad="177800" dist="63500" dir="5400000">
              <a:srgbClr val="000000">
                <a:alpha val="45000"/>
              </a:srgbClr>
            </a:outerShdw>
          </a:effectLst>
        </p:spPr>
      </p:pic>
      <p:sp>
        <p:nvSpPr>
          <p:cNvPr id="14" name="Text 8"/>
          <p:cNvSpPr txBox="1"/>
          <p:nvPr/>
        </p:nvSpPr>
        <p:spPr>
          <a:xfrm>
            <a:off x="731520" y="6263640"/>
            <a:ext cx="6583680" cy="502920"/>
          </a:xfrm>
          <a:prstGeom prst="rect">
            <a:avLst/>
          </a:prstGeom>
          <a:noFill/>
          <a:ln/>
        </p:spPr>
        <p:txBody>
          <a:bodyPr wrap="square" lIns="0" tIns="0" rIns="0" bIns="0" rtlCol="0" anchor="ctr"/>
          <a:lstStyle/>
          <a:p>
            <a:pPr indent="0" marL="0">
              <a:buNone/>
            </a:pPr>
            <a:r>
              <a:rPr lang="en-US" sz="1100" dirty="0">
                <a:solidFill>
                  <a:srgbClr val="B8CBDA"/>
                </a:solidFill>
                <a:latin typeface="Calibri" pitchFamily="34" charset="0"/>
                <a:ea typeface="Calibri" pitchFamily="34" charset="-122"/>
                <a:cs typeface="Calibri" pitchFamily="34" charset="-120"/>
              </a:rPr>
              <a:t>Documents: proposals, chapters, full drafts, corrections and ethics forms, each with a version number.</a:t>
            </a:r>
            <a:endParaRPr lang="en-US" sz="1100" dirty="0"/>
          </a:p>
        </p:txBody>
      </p:sp>
      <p:sp>
        <p:nvSpPr>
          <p:cNvPr id="15" name="Text 9"/>
          <p:cNvSpPr txBox="1"/>
          <p:nvPr/>
        </p:nvSpPr>
        <p:spPr>
          <a:xfrm>
            <a:off x="7589520" y="2788920"/>
            <a:ext cx="4023360" cy="384048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Upload a proposal, a chapter, a full draft, corrections or an ethics form.</a:t>
            </a:r>
            <a:endParaRPr lang="en-US" sz="1500" dirty="0"/>
          </a:p>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Each upload gets a version number, so we both know which one we are talking about.</a:t>
            </a:r>
            <a:endParaRPr lang="en-US" sz="1500" dirty="0"/>
          </a:p>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The Director is told the moment it arrives.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FFFF"/>
          </a:solidFill>
          <a:ln w="12700">
            <a:solidFill>
              <a:srgbClr val="FFFFFF"/>
            </a:solidFill>
            <a:prstDash val="solid"/>
          </a:ln>
        </p:spPr>
      </p:sp>
      <p:sp>
        <p:nvSpPr>
          <p:cNvPr id="3" name="Shape 1"/>
          <p:cNvSpPr/>
          <p:nvPr/>
        </p:nvSpPr>
        <p:spPr>
          <a:xfrm>
            <a:off x="0" y="923544"/>
            <a:ext cx="12188952" cy="36576"/>
          </a:xfrm>
          <a:prstGeom prst="rect">
            <a:avLst/>
          </a:prstGeom>
          <a:solidFill>
            <a:srgbClr val="B79A5E"/>
          </a:solidFill>
          <a:ln w="12700">
            <a:solidFill>
              <a:srgbClr val="B79A5E"/>
            </a:solidFill>
            <a:prstDash val="solid"/>
          </a:ln>
        </p:spPr>
      </p:sp>
      <p:pic>
        <p:nvPicPr>
          <p:cNvPr id="4" name="Image 0" descr="/Users/emmanuel_ojo/Library/CloudStorage/Dropbox/Claude Cowork/04 Grants &amp; Fellowships/Wits AHEAD Research Group/10 Website &amp; Daily Briefing/assets/wits-wsoe-lockup.png">    </p:cNvPr>
          <p:cNvPicPr>
            <a:picLocks noChangeAspect="1"/>
          </p:cNvPicPr>
          <p:nvPr/>
        </p:nvPicPr>
        <p:blipFill>
          <a:blip r:embed="rId2"/>
          <a:stretch>
            <a:fillRect/>
          </a:stretch>
        </p:blipFill>
        <p:spPr>
          <a:xfrm>
            <a:off x="731520" y="182880"/>
            <a:ext cx="3286461" cy="594360"/>
          </a:xfrm>
          <a:prstGeom prst="rect">
            <a:avLst/>
          </a:prstGeom>
        </p:spPr>
      </p:pic>
      <p:sp>
        <p:nvSpPr>
          <p:cNvPr id="5" name="Shape 2"/>
          <p:cNvSpPr/>
          <p:nvPr/>
        </p:nvSpPr>
        <p:spPr>
          <a:xfrm>
            <a:off x="4343400" y="182880"/>
            <a:ext cx="13716" cy="594360"/>
          </a:xfrm>
          <a:prstGeom prst="rect">
            <a:avLst/>
          </a:prstGeom>
          <a:solidFill>
            <a:srgbClr val="003B5C">
              <a:alpha val="50000"/>
            </a:srgbClr>
          </a:solidFill>
          <a:ln w="12700">
            <a:solidFill>
              <a:srgbClr val="003B5C">
                <a:alpha val="50000"/>
              </a:srgbClr>
            </a:solidFill>
            <a:prstDash val="solid"/>
          </a:ln>
        </p:spPr>
      </p:sp>
      <p:pic>
        <p:nvPicPr>
          <p:cNvPr id="6" name="Image 1" descr="/Users/emmanuel_ojo/Library/CloudStorage/Dropbox/Claude Cowork/04 Grants &amp; Fellowships/Wits AHEAD Research Group/10 Website &amp; Daily Briefing/site/assets/logo-600.png">    </p:cNvPr>
          <p:cNvPicPr>
            <a:picLocks noChangeAspect="1"/>
          </p:cNvPicPr>
          <p:nvPr/>
        </p:nvPicPr>
        <p:blipFill>
          <a:blip r:embed="rId3"/>
          <a:stretch>
            <a:fillRect/>
          </a:stretch>
        </p:blipFill>
        <p:spPr>
          <a:xfrm>
            <a:off x="4526280" y="182880"/>
            <a:ext cx="594360" cy="594360"/>
          </a:xfrm>
          <a:prstGeom prst="rect">
            <a:avLst/>
          </a:prstGeom>
        </p:spPr>
      </p:pic>
      <p:sp>
        <p:nvSpPr>
          <p:cNvPr id="7" name="Text 3"/>
          <p:cNvSpPr txBox="1"/>
          <p:nvPr/>
        </p:nvSpPr>
        <p:spPr>
          <a:xfrm>
            <a:off x="5257800" y="109728"/>
            <a:ext cx="4206240" cy="777240"/>
          </a:xfrm>
          <a:prstGeom prst="rect">
            <a:avLst/>
          </a:prstGeom>
          <a:noFill/>
          <a:ln/>
        </p:spPr>
        <p:txBody>
          <a:bodyPr wrap="square" lIns="0" tIns="0" rIns="0" bIns="0" rtlCol="0" anchor="ctr"/>
          <a:lstStyle/>
          <a:p>
            <a:pPr indent="0" marL="0">
              <a:lnSpc>
                <a:spcPct val="95000"/>
              </a:lnSpc>
              <a:buNone/>
            </a:pPr>
            <a:r>
              <a:rPr lang="en-US" sz="900" b="1" spc="600" kern="0" dirty="0">
                <a:solidFill>
                  <a:srgbClr val="B79A5E"/>
                </a:solidFill>
                <a:latin typeface="Calibri" pitchFamily="34" charset="0"/>
                <a:ea typeface="Calibri" pitchFamily="34" charset="-122"/>
                <a:cs typeface="Calibri" pitchFamily="34" charset="-120"/>
              </a:rPr>
              <a:t>WITS</a:t>
            </a:r>
            <a:endParaRPr lang="en-US" sz="900" dirty="0"/>
          </a:p>
          <a:p>
            <a:pPr indent="0" marL="0">
              <a:lnSpc>
                <a:spcPct val="95000"/>
              </a:lnSpc>
              <a:buNone/>
            </a:pPr>
            <a:r>
              <a:rPr lang="en-US" sz="2400" b="1" dirty="0">
                <a:solidFill>
                  <a:srgbClr val="003B5C"/>
                </a:solidFill>
                <a:latin typeface="Calibri" pitchFamily="34" charset="0"/>
                <a:ea typeface="Calibri" pitchFamily="34" charset="-122"/>
                <a:cs typeface="Calibri" pitchFamily="34" charset="-120"/>
              </a:rPr>
              <a:t>AHEAD</a:t>
            </a:r>
            <a:endParaRPr lang="en-US" sz="900" dirty="0"/>
          </a:p>
          <a:p>
            <a:pPr indent="0" marL="0">
              <a:lnSpc>
                <a:spcPct val="95000"/>
              </a:lnSpc>
              <a:buNone/>
            </a:pPr>
            <a:r>
              <a:rPr lang="en-US" sz="850" dirty="0">
                <a:solidFill>
                  <a:srgbClr val="333333"/>
                </a:solidFill>
                <a:latin typeface="Calibri" pitchFamily="34" charset="0"/>
                <a:ea typeface="Calibri" pitchFamily="34" charset="-122"/>
                <a:cs typeface="Calibri" pitchFamily="34" charset="-120"/>
              </a:rPr>
              <a:t>Research Group for Advancing Human Capabilities through Education, Analytics and Development</a:t>
            </a:r>
            <a:endParaRPr lang="en-US" sz="900" dirty="0"/>
          </a:p>
        </p:txBody>
      </p:sp>
      <p:sp>
        <p:nvSpPr>
          <p:cNvPr id="9" name="Text 4"/>
          <p:cNvSpPr txBox="1"/>
          <p:nvPr/>
        </p:nvSpPr>
        <p:spPr>
          <a:xfrm>
            <a:off x="731520" y="1325880"/>
            <a:ext cx="9601200" cy="320040"/>
          </a:xfrm>
          <a:prstGeom prst="rect">
            <a:avLst/>
          </a:prstGeom>
          <a:noFill/>
          <a:ln/>
        </p:spPr>
        <p:txBody>
          <a:bodyPr wrap="square" lIns="0" tIns="0" rIns="0" bIns="0" rtlCol="0" anchor="ctr"/>
          <a:lstStyle/>
          <a:p>
            <a:pPr indent="0" marL="0">
              <a:buNone/>
            </a:pPr>
            <a:r>
              <a:rPr lang="en-US" sz="1200" b="1" spc="400" kern="0" dirty="0">
                <a:solidFill>
                  <a:srgbClr val="B79A5E"/>
                </a:solidFill>
                <a:latin typeface="Calibri" pitchFamily="34" charset="0"/>
                <a:ea typeface="Calibri" pitchFamily="34" charset="-122"/>
                <a:cs typeface="Calibri" pitchFamily="34" charset="-120"/>
              </a:rPr>
              <a:t>FEEDBACK</a:t>
            </a:r>
            <a:endParaRPr lang="en-US" sz="1200" dirty="0"/>
          </a:p>
        </p:txBody>
      </p:sp>
      <p:sp>
        <p:nvSpPr>
          <p:cNvPr id="10" name="Text 5"/>
          <p:cNvSpPr txBox="1"/>
          <p:nvPr/>
        </p:nvSpPr>
        <p:spPr>
          <a:xfrm>
            <a:off x="10177272" y="6400800"/>
            <a:ext cx="1280160" cy="274320"/>
          </a:xfrm>
          <a:prstGeom prst="rect">
            <a:avLst/>
          </a:prstGeom>
          <a:noFill/>
          <a:ln/>
        </p:spPr>
        <p:txBody>
          <a:bodyPr wrap="square" lIns="0" tIns="0" rIns="0" bIns="0" rtlCol="0" anchor="ctr"/>
          <a:lstStyle/>
          <a:p>
            <a:pPr algn="r" indent="0" marL="0">
              <a:buNone/>
            </a:pPr>
            <a:r>
              <a:rPr lang="en-US" sz="1000" dirty="0">
                <a:solidFill>
                  <a:srgbClr val="B8CBDA"/>
                </a:solidFill>
                <a:latin typeface="Calibri" pitchFamily="34" charset="0"/>
                <a:ea typeface="Calibri" pitchFamily="34" charset="-122"/>
                <a:cs typeface="Calibri" pitchFamily="34" charset="-120"/>
              </a:rPr>
              <a:t>10 / 16</a:t>
            </a:r>
            <a:endParaRPr lang="en-US" sz="1000" dirty="0"/>
          </a:p>
        </p:txBody>
      </p:sp>
      <p:sp>
        <p:nvSpPr>
          <p:cNvPr id="11" name="Text 6"/>
          <p:cNvSpPr txBox="1"/>
          <p:nvPr/>
        </p:nvSpPr>
        <p:spPr>
          <a:xfrm>
            <a:off x="731520" y="1618488"/>
            <a:ext cx="10607040" cy="91440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A round of feedback, made to be enjoyed</a:t>
            </a:r>
            <a:endParaRPr lang="en-US" sz="3000" dirty="0"/>
          </a:p>
        </p:txBody>
      </p:sp>
      <p:sp>
        <p:nvSpPr>
          <p:cNvPr id="12" name="Shape 7"/>
          <p:cNvSpPr/>
          <p:nvPr/>
        </p:nvSpPr>
        <p:spPr>
          <a:xfrm>
            <a:off x="731520" y="2532888"/>
            <a:ext cx="731520" cy="45720"/>
          </a:xfrm>
          <a:prstGeom prst="rect">
            <a:avLst/>
          </a:prstGeom>
          <a:solidFill>
            <a:srgbClr val="B79A5E"/>
          </a:solidFill>
          <a:ln w="12700">
            <a:solidFill>
              <a:srgbClr val="B79A5E"/>
            </a:solidFill>
            <a:prstDash val="solid"/>
          </a:ln>
        </p:spPr>
      </p:sp>
      <p:pic>
        <p:nvPicPr>
          <p:cNvPr id="13" name="Image 2" descr="/Users/emmanuel_ojo/Library/CloudStorage/Dropbox/Claude Cowork/04 Grants &amp; Fellowships/Wits AHEAD Research Group/11 AHEAD Pathway (supervision platform)/Onboarding/shots/feedback.png">    </p:cNvPr>
          <p:cNvPicPr>
            <a:picLocks noChangeAspect="1"/>
          </p:cNvPicPr>
          <p:nvPr/>
        </p:nvPicPr>
        <p:blipFill>
          <a:blip r:embed="rId4"/>
          <a:srcRect l="0" r="0" t="0" b="0"/>
          <a:stretch/>
        </p:blipFill>
        <p:spPr>
          <a:xfrm>
            <a:off x="731520" y="2743200"/>
            <a:ext cx="6583680" cy="3474720"/>
          </a:xfrm>
          <a:prstGeom prst="rect">
            <a:avLst/>
          </a:prstGeom>
          <a:effectLst>
            <a:outerShdw sx="100000" sy="100000" kx="0" ky="0" algn="bl" rotWithShape="0" blurRad="177800" dist="63500" dir="5400000">
              <a:srgbClr val="000000">
                <a:alpha val="45000"/>
              </a:srgbClr>
            </a:outerShdw>
          </a:effectLst>
        </p:spPr>
      </p:pic>
      <p:sp>
        <p:nvSpPr>
          <p:cNvPr id="14" name="Text 8"/>
          <p:cNvSpPr txBox="1"/>
          <p:nvPr/>
        </p:nvSpPr>
        <p:spPr>
          <a:xfrm>
            <a:off x="731520" y="6263640"/>
            <a:ext cx="6583680" cy="502920"/>
          </a:xfrm>
          <a:prstGeom prst="rect">
            <a:avLst/>
          </a:prstGeom>
          <a:noFill/>
          <a:ln/>
        </p:spPr>
        <p:txBody>
          <a:bodyPr wrap="square" lIns="0" tIns="0" rIns="0" bIns="0" rtlCol="0" anchor="ctr"/>
          <a:lstStyle/>
          <a:p>
            <a:pPr indent="0" marL="0">
              <a:buNone/>
            </a:pPr>
            <a:r>
              <a:rPr lang="en-US" sz="1100" dirty="0">
                <a:solidFill>
                  <a:srgbClr val="B8CBDA"/>
                </a:solidFill>
                <a:latin typeface="Calibri" pitchFamily="34" charset="0"/>
                <a:ea typeface="Calibri" pitchFamily="34" charset="-122"/>
                <a:cs typeface="Calibri" pitchFamily="34" charset="-120"/>
              </a:rPr>
              <a:t>One round: the date, the comments, a recording to listen to, the reviewed files, your actions to tick off, and the readings.</a:t>
            </a:r>
            <a:endParaRPr lang="en-US" sz="1100" dirty="0"/>
          </a:p>
        </p:txBody>
      </p:sp>
      <p:sp>
        <p:nvSpPr>
          <p:cNvPr id="15" name="Text 9"/>
          <p:cNvSpPr txBox="1"/>
          <p:nvPr/>
        </p:nvSpPr>
        <p:spPr>
          <a:xfrm>
            <a:off x="7589520" y="2788920"/>
            <a:ext cx="4023360" cy="384048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Read the comments and listen to them at the same time.</a:t>
            </a:r>
            <a:endParaRPr lang="en-US" sz="1500" dirty="0"/>
          </a:p>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Download the reviewed documents, work online or offline, and upload the next version.</a:t>
            </a:r>
            <a:endParaRPr lang="en-US" sz="1500" dirty="0"/>
          </a:p>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Tick each action off as you do it; the round turns green when it is complete.</a:t>
            </a:r>
            <a:endParaRPr lang="en-US" sz="1500" dirty="0"/>
          </a:p>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Open the readings straight from the round.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FFFF"/>
          </a:solidFill>
          <a:ln w="12700">
            <a:solidFill>
              <a:srgbClr val="FFFFFF"/>
            </a:solidFill>
            <a:prstDash val="solid"/>
          </a:ln>
        </p:spPr>
      </p:sp>
      <p:sp>
        <p:nvSpPr>
          <p:cNvPr id="3" name="Shape 1"/>
          <p:cNvSpPr/>
          <p:nvPr/>
        </p:nvSpPr>
        <p:spPr>
          <a:xfrm>
            <a:off x="0" y="923544"/>
            <a:ext cx="12188952" cy="36576"/>
          </a:xfrm>
          <a:prstGeom prst="rect">
            <a:avLst/>
          </a:prstGeom>
          <a:solidFill>
            <a:srgbClr val="B79A5E"/>
          </a:solidFill>
          <a:ln w="12700">
            <a:solidFill>
              <a:srgbClr val="B79A5E"/>
            </a:solidFill>
            <a:prstDash val="solid"/>
          </a:ln>
        </p:spPr>
      </p:sp>
      <p:pic>
        <p:nvPicPr>
          <p:cNvPr id="4" name="Image 0" descr="/Users/emmanuel_ojo/Library/CloudStorage/Dropbox/Claude Cowork/04 Grants &amp; Fellowships/Wits AHEAD Research Group/10 Website &amp; Daily Briefing/assets/wits-wsoe-lockup.png">    </p:cNvPr>
          <p:cNvPicPr>
            <a:picLocks noChangeAspect="1"/>
          </p:cNvPicPr>
          <p:nvPr/>
        </p:nvPicPr>
        <p:blipFill>
          <a:blip r:embed="rId2"/>
          <a:stretch>
            <a:fillRect/>
          </a:stretch>
        </p:blipFill>
        <p:spPr>
          <a:xfrm>
            <a:off x="731520" y="182880"/>
            <a:ext cx="3286461" cy="594360"/>
          </a:xfrm>
          <a:prstGeom prst="rect">
            <a:avLst/>
          </a:prstGeom>
        </p:spPr>
      </p:pic>
      <p:sp>
        <p:nvSpPr>
          <p:cNvPr id="5" name="Shape 2"/>
          <p:cNvSpPr/>
          <p:nvPr/>
        </p:nvSpPr>
        <p:spPr>
          <a:xfrm>
            <a:off x="4343400" y="182880"/>
            <a:ext cx="13716" cy="594360"/>
          </a:xfrm>
          <a:prstGeom prst="rect">
            <a:avLst/>
          </a:prstGeom>
          <a:solidFill>
            <a:srgbClr val="003B5C">
              <a:alpha val="50000"/>
            </a:srgbClr>
          </a:solidFill>
          <a:ln w="12700">
            <a:solidFill>
              <a:srgbClr val="003B5C">
                <a:alpha val="50000"/>
              </a:srgbClr>
            </a:solidFill>
            <a:prstDash val="solid"/>
          </a:ln>
        </p:spPr>
      </p:sp>
      <p:pic>
        <p:nvPicPr>
          <p:cNvPr id="6" name="Image 1" descr="/Users/emmanuel_ojo/Library/CloudStorage/Dropbox/Claude Cowork/04 Grants &amp; Fellowships/Wits AHEAD Research Group/10 Website &amp; Daily Briefing/site/assets/logo-600.png">    </p:cNvPr>
          <p:cNvPicPr>
            <a:picLocks noChangeAspect="1"/>
          </p:cNvPicPr>
          <p:nvPr/>
        </p:nvPicPr>
        <p:blipFill>
          <a:blip r:embed="rId3"/>
          <a:stretch>
            <a:fillRect/>
          </a:stretch>
        </p:blipFill>
        <p:spPr>
          <a:xfrm>
            <a:off x="4526280" y="182880"/>
            <a:ext cx="594360" cy="594360"/>
          </a:xfrm>
          <a:prstGeom prst="rect">
            <a:avLst/>
          </a:prstGeom>
        </p:spPr>
      </p:pic>
      <p:sp>
        <p:nvSpPr>
          <p:cNvPr id="7" name="Text 3"/>
          <p:cNvSpPr txBox="1"/>
          <p:nvPr/>
        </p:nvSpPr>
        <p:spPr>
          <a:xfrm>
            <a:off x="5257800" y="109728"/>
            <a:ext cx="4206240" cy="777240"/>
          </a:xfrm>
          <a:prstGeom prst="rect">
            <a:avLst/>
          </a:prstGeom>
          <a:noFill/>
          <a:ln/>
        </p:spPr>
        <p:txBody>
          <a:bodyPr wrap="square" lIns="0" tIns="0" rIns="0" bIns="0" rtlCol="0" anchor="ctr"/>
          <a:lstStyle/>
          <a:p>
            <a:pPr indent="0" marL="0">
              <a:lnSpc>
                <a:spcPct val="95000"/>
              </a:lnSpc>
              <a:buNone/>
            </a:pPr>
            <a:r>
              <a:rPr lang="en-US" sz="900" b="1" spc="600" kern="0" dirty="0">
                <a:solidFill>
                  <a:srgbClr val="B79A5E"/>
                </a:solidFill>
                <a:latin typeface="Calibri" pitchFamily="34" charset="0"/>
                <a:ea typeface="Calibri" pitchFamily="34" charset="-122"/>
                <a:cs typeface="Calibri" pitchFamily="34" charset="-120"/>
              </a:rPr>
              <a:t>WITS</a:t>
            </a:r>
            <a:endParaRPr lang="en-US" sz="900" dirty="0"/>
          </a:p>
          <a:p>
            <a:pPr indent="0" marL="0">
              <a:lnSpc>
                <a:spcPct val="95000"/>
              </a:lnSpc>
              <a:buNone/>
            </a:pPr>
            <a:r>
              <a:rPr lang="en-US" sz="2400" b="1" dirty="0">
                <a:solidFill>
                  <a:srgbClr val="003B5C"/>
                </a:solidFill>
                <a:latin typeface="Calibri" pitchFamily="34" charset="0"/>
                <a:ea typeface="Calibri" pitchFamily="34" charset="-122"/>
                <a:cs typeface="Calibri" pitchFamily="34" charset="-120"/>
              </a:rPr>
              <a:t>AHEAD</a:t>
            </a:r>
            <a:endParaRPr lang="en-US" sz="900" dirty="0"/>
          </a:p>
          <a:p>
            <a:pPr indent="0" marL="0">
              <a:lnSpc>
                <a:spcPct val="95000"/>
              </a:lnSpc>
              <a:buNone/>
            </a:pPr>
            <a:r>
              <a:rPr lang="en-US" sz="850" dirty="0">
                <a:solidFill>
                  <a:srgbClr val="333333"/>
                </a:solidFill>
                <a:latin typeface="Calibri" pitchFamily="34" charset="0"/>
                <a:ea typeface="Calibri" pitchFamily="34" charset="-122"/>
                <a:cs typeface="Calibri" pitchFamily="34" charset="-120"/>
              </a:rPr>
              <a:t>Research Group for Advancing Human Capabilities through Education, Analytics and Development</a:t>
            </a:r>
            <a:endParaRPr lang="en-US" sz="900" dirty="0"/>
          </a:p>
        </p:txBody>
      </p:sp>
      <p:sp>
        <p:nvSpPr>
          <p:cNvPr id="9" name="Text 4"/>
          <p:cNvSpPr txBox="1"/>
          <p:nvPr/>
        </p:nvSpPr>
        <p:spPr>
          <a:xfrm>
            <a:off x="731520" y="1325880"/>
            <a:ext cx="9601200" cy="320040"/>
          </a:xfrm>
          <a:prstGeom prst="rect">
            <a:avLst/>
          </a:prstGeom>
          <a:noFill/>
          <a:ln/>
        </p:spPr>
        <p:txBody>
          <a:bodyPr wrap="square" lIns="0" tIns="0" rIns="0" bIns="0" rtlCol="0" anchor="ctr"/>
          <a:lstStyle/>
          <a:p>
            <a:pPr indent="0" marL="0">
              <a:buNone/>
            </a:pPr>
            <a:r>
              <a:rPr lang="en-US" sz="1200" b="1" spc="400" kern="0" dirty="0">
                <a:solidFill>
                  <a:srgbClr val="B79A5E"/>
                </a:solidFill>
                <a:latin typeface="Calibri" pitchFamily="34" charset="0"/>
                <a:ea typeface="Calibri" pitchFamily="34" charset="-122"/>
                <a:cs typeface="Calibri" pitchFamily="34" charset="-120"/>
              </a:rPr>
              <a:t>YOUR JOURNEY</a:t>
            </a:r>
            <a:endParaRPr lang="en-US" sz="1200" dirty="0"/>
          </a:p>
        </p:txBody>
      </p:sp>
      <p:sp>
        <p:nvSpPr>
          <p:cNvPr id="10" name="Text 5"/>
          <p:cNvSpPr txBox="1"/>
          <p:nvPr/>
        </p:nvSpPr>
        <p:spPr>
          <a:xfrm>
            <a:off x="10177272" y="6400800"/>
            <a:ext cx="1280160" cy="274320"/>
          </a:xfrm>
          <a:prstGeom prst="rect">
            <a:avLst/>
          </a:prstGeom>
          <a:noFill/>
          <a:ln/>
        </p:spPr>
        <p:txBody>
          <a:bodyPr wrap="square" lIns="0" tIns="0" rIns="0" bIns="0" rtlCol="0" anchor="ctr"/>
          <a:lstStyle/>
          <a:p>
            <a:pPr algn="r" indent="0" marL="0">
              <a:buNone/>
            </a:pPr>
            <a:r>
              <a:rPr lang="en-US" sz="1000" dirty="0">
                <a:solidFill>
                  <a:srgbClr val="B8CBDA"/>
                </a:solidFill>
                <a:latin typeface="Calibri" pitchFamily="34" charset="0"/>
                <a:ea typeface="Calibri" pitchFamily="34" charset="-122"/>
                <a:cs typeface="Calibri" pitchFamily="34" charset="-120"/>
              </a:rPr>
              <a:t>11 / 16</a:t>
            </a:r>
            <a:endParaRPr lang="en-US" sz="1000" dirty="0"/>
          </a:p>
        </p:txBody>
      </p:sp>
      <p:sp>
        <p:nvSpPr>
          <p:cNvPr id="11" name="Text 6"/>
          <p:cNvSpPr txBox="1"/>
          <p:nvPr/>
        </p:nvSpPr>
        <p:spPr>
          <a:xfrm>
            <a:off x="731520" y="1618488"/>
            <a:ext cx="10607040" cy="91440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Every engagement, dated and kept</a:t>
            </a:r>
            <a:endParaRPr lang="en-US" sz="3000" dirty="0"/>
          </a:p>
        </p:txBody>
      </p:sp>
      <p:sp>
        <p:nvSpPr>
          <p:cNvPr id="12" name="Shape 7"/>
          <p:cNvSpPr/>
          <p:nvPr/>
        </p:nvSpPr>
        <p:spPr>
          <a:xfrm>
            <a:off x="731520" y="2532888"/>
            <a:ext cx="731520" cy="45720"/>
          </a:xfrm>
          <a:prstGeom prst="rect">
            <a:avLst/>
          </a:prstGeom>
          <a:solidFill>
            <a:srgbClr val="B79A5E"/>
          </a:solidFill>
          <a:ln w="12700">
            <a:solidFill>
              <a:srgbClr val="B79A5E"/>
            </a:solidFill>
            <a:prstDash val="solid"/>
          </a:ln>
        </p:spPr>
      </p:sp>
      <p:pic>
        <p:nvPicPr>
          <p:cNvPr id="13" name="Image 2" descr="/Users/emmanuel_ojo/Library/CloudStorage/Dropbox/Claude Cowork/04 Grants &amp; Fellowships/Wits AHEAD Research Group/11 AHEAD Pathway (supervision platform)/Onboarding/shots/journey.png">    </p:cNvPr>
          <p:cNvPicPr>
            <a:picLocks noChangeAspect="1"/>
          </p:cNvPicPr>
          <p:nvPr/>
        </p:nvPicPr>
        <p:blipFill>
          <a:blip r:embed="rId4"/>
          <a:srcRect l="0" r="0" t="0" b="0"/>
          <a:stretch/>
        </p:blipFill>
        <p:spPr>
          <a:xfrm>
            <a:off x="731520" y="2743200"/>
            <a:ext cx="6583680" cy="3474720"/>
          </a:xfrm>
          <a:prstGeom prst="rect">
            <a:avLst/>
          </a:prstGeom>
          <a:effectLst>
            <a:outerShdw sx="100000" sy="100000" kx="0" ky="0" algn="bl" rotWithShape="0" blurRad="177800" dist="63500" dir="5400000">
              <a:srgbClr val="000000">
                <a:alpha val="45000"/>
              </a:srgbClr>
            </a:outerShdw>
          </a:effectLst>
        </p:spPr>
      </p:pic>
      <p:sp>
        <p:nvSpPr>
          <p:cNvPr id="14" name="Text 8"/>
          <p:cNvSpPr txBox="1"/>
          <p:nvPr/>
        </p:nvSpPr>
        <p:spPr>
          <a:xfrm>
            <a:off x="731520" y="6263640"/>
            <a:ext cx="6583680" cy="502920"/>
          </a:xfrm>
          <a:prstGeom prst="rect">
            <a:avLst/>
          </a:prstGeom>
          <a:noFill/>
          <a:ln/>
        </p:spPr>
        <p:txBody>
          <a:bodyPr wrap="square" lIns="0" tIns="0" rIns="0" bIns="0" rtlCol="0" anchor="ctr"/>
          <a:lstStyle/>
          <a:p>
            <a:pPr indent="0" marL="0">
              <a:buNone/>
            </a:pPr>
            <a:r>
              <a:rPr lang="en-US" sz="1100" dirty="0">
                <a:solidFill>
                  <a:srgbClr val="B8CBDA"/>
                </a:solidFill>
                <a:latin typeface="Calibri" pitchFamily="34" charset="0"/>
                <a:ea typeface="Calibri" pitchFamily="34" charset="-122"/>
                <a:cs typeface="Calibri" pitchFamily="34" charset="-120"/>
              </a:rPr>
              <a:t>The journey strip and log: uploads, feedback, actions done, downloads, messages, meetings, calls and check-ins.</a:t>
            </a:r>
            <a:endParaRPr lang="en-US" sz="1100" dirty="0"/>
          </a:p>
        </p:txBody>
      </p:sp>
      <p:sp>
        <p:nvSpPr>
          <p:cNvPr id="15" name="Text 9"/>
          <p:cNvSpPr txBox="1"/>
          <p:nvPr/>
        </p:nvSpPr>
        <p:spPr>
          <a:xfrm>
            <a:off x="7589520" y="2788920"/>
            <a:ext cx="4023360" cy="384048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Every upload, every round of feedback, every action completed, every message and meeting is logged with its date.</a:t>
            </a:r>
            <a:endParaRPr lang="en-US" sz="1500" dirty="0"/>
          </a:p>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Your progress ring shows how many actions you have completed.</a:t>
            </a:r>
            <a:endParaRPr lang="en-US" sz="1500" dirty="0"/>
          </a:p>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Open my supervision record gives you a printable record for the annual progress report.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FFFF"/>
          </a:solidFill>
          <a:ln w="12700">
            <a:solidFill>
              <a:srgbClr val="FFFFFF"/>
            </a:solidFill>
            <a:prstDash val="solid"/>
          </a:ln>
        </p:spPr>
      </p:sp>
      <p:sp>
        <p:nvSpPr>
          <p:cNvPr id="3" name="Shape 1"/>
          <p:cNvSpPr/>
          <p:nvPr/>
        </p:nvSpPr>
        <p:spPr>
          <a:xfrm>
            <a:off x="0" y="923544"/>
            <a:ext cx="12188952" cy="36576"/>
          </a:xfrm>
          <a:prstGeom prst="rect">
            <a:avLst/>
          </a:prstGeom>
          <a:solidFill>
            <a:srgbClr val="B79A5E"/>
          </a:solidFill>
          <a:ln w="12700">
            <a:solidFill>
              <a:srgbClr val="B79A5E"/>
            </a:solidFill>
            <a:prstDash val="solid"/>
          </a:ln>
        </p:spPr>
      </p:sp>
      <p:pic>
        <p:nvPicPr>
          <p:cNvPr id="4" name="Image 0" descr="/Users/emmanuel_ojo/Library/CloudStorage/Dropbox/Claude Cowork/04 Grants &amp; Fellowships/Wits AHEAD Research Group/10 Website &amp; Daily Briefing/assets/wits-wsoe-lockup.png">    </p:cNvPr>
          <p:cNvPicPr>
            <a:picLocks noChangeAspect="1"/>
          </p:cNvPicPr>
          <p:nvPr/>
        </p:nvPicPr>
        <p:blipFill>
          <a:blip r:embed="rId2"/>
          <a:stretch>
            <a:fillRect/>
          </a:stretch>
        </p:blipFill>
        <p:spPr>
          <a:xfrm>
            <a:off x="731520" y="182880"/>
            <a:ext cx="3286461" cy="594360"/>
          </a:xfrm>
          <a:prstGeom prst="rect">
            <a:avLst/>
          </a:prstGeom>
        </p:spPr>
      </p:pic>
      <p:sp>
        <p:nvSpPr>
          <p:cNvPr id="5" name="Shape 2"/>
          <p:cNvSpPr/>
          <p:nvPr/>
        </p:nvSpPr>
        <p:spPr>
          <a:xfrm>
            <a:off x="4343400" y="182880"/>
            <a:ext cx="13716" cy="594360"/>
          </a:xfrm>
          <a:prstGeom prst="rect">
            <a:avLst/>
          </a:prstGeom>
          <a:solidFill>
            <a:srgbClr val="003B5C">
              <a:alpha val="50000"/>
            </a:srgbClr>
          </a:solidFill>
          <a:ln w="12700">
            <a:solidFill>
              <a:srgbClr val="003B5C">
                <a:alpha val="50000"/>
              </a:srgbClr>
            </a:solidFill>
            <a:prstDash val="solid"/>
          </a:ln>
        </p:spPr>
      </p:sp>
      <p:pic>
        <p:nvPicPr>
          <p:cNvPr id="6" name="Image 1" descr="/Users/emmanuel_ojo/Library/CloudStorage/Dropbox/Claude Cowork/04 Grants &amp; Fellowships/Wits AHEAD Research Group/10 Website &amp; Daily Briefing/site/assets/logo-600.png">    </p:cNvPr>
          <p:cNvPicPr>
            <a:picLocks noChangeAspect="1"/>
          </p:cNvPicPr>
          <p:nvPr/>
        </p:nvPicPr>
        <p:blipFill>
          <a:blip r:embed="rId3"/>
          <a:stretch>
            <a:fillRect/>
          </a:stretch>
        </p:blipFill>
        <p:spPr>
          <a:xfrm>
            <a:off x="4526280" y="182880"/>
            <a:ext cx="594360" cy="594360"/>
          </a:xfrm>
          <a:prstGeom prst="rect">
            <a:avLst/>
          </a:prstGeom>
        </p:spPr>
      </p:pic>
      <p:sp>
        <p:nvSpPr>
          <p:cNvPr id="7" name="Text 3"/>
          <p:cNvSpPr txBox="1"/>
          <p:nvPr/>
        </p:nvSpPr>
        <p:spPr>
          <a:xfrm>
            <a:off x="5257800" y="109728"/>
            <a:ext cx="4206240" cy="777240"/>
          </a:xfrm>
          <a:prstGeom prst="rect">
            <a:avLst/>
          </a:prstGeom>
          <a:noFill/>
          <a:ln/>
        </p:spPr>
        <p:txBody>
          <a:bodyPr wrap="square" lIns="0" tIns="0" rIns="0" bIns="0" rtlCol="0" anchor="ctr"/>
          <a:lstStyle/>
          <a:p>
            <a:pPr indent="0" marL="0">
              <a:lnSpc>
                <a:spcPct val="95000"/>
              </a:lnSpc>
              <a:buNone/>
            </a:pPr>
            <a:r>
              <a:rPr lang="en-US" sz="900" b="1" spc="600" kern="0" dirty="0">
                <a:solidFill>
                  <a:srgbClr val="B79A5E"/>
                </a:solidFill>
                <a:latin typeface="Calibri" pitchFamily="34" charset="0"/>
                <a:ea typeface="Calibri" pitchFamily="34" charset="-122"/>
                <a:cs typeface="Calibri" pitchFamily="34" charset="-120"/>
              </a:rPr>
              <a:t>WITS</a:t>
            </a:r>
            <a:endParaRPr lang="en-US" sz="900" dirty="0"/>
          </a:p>
          <a:p>
            <a:pPr indent="0" marL="0">
              <a:lnSpc>
                <a:spcPct val="95000"/>
              </a:lnSpc>
              <a:buNone/>
            </a:pPr>
            <a:r>
              <a:rPr lang="en-US" sz="2400" b="1" dirty="0">
                <a:solidFill>
                  <a:srgbClr val="003B5C"/>
                </a:solidFill>
                <a:latin typeface="Calibri" pitchFamily="34" charset="0"/>
                <a:ea typeface="Calibri" pitchFamily="34" charset="-122"/>
                <a:cs typeface="Calibri" pitchFamily="34" charset="-120"/>
              </a:rPr>
              <a:t>AHEAD</a:t>
            </a:r>
            <a:endParaRPr lang="en-US" sz="900" dirty="0"/>
          </a:p>
          <a:p>
            <a:pPr indent="0" marL="0">
              <a:lnSpc>
                <a:spcPct val="95000"/>
              </a:lnSpc>
              <a:buNone/>
            </a:pPr>
            <a:r>
              <a:rPr lang="en-US" sz="850" dirty="0">
                <a:solidFill>
                  <a:srgbClr val="333333"/>
                </a:solidFill>
                <a:latin typeface="Calibri" pitchFamily="34" charset="0"/>
                <a:ea typeface="Calibri" pitchFamily="34" charset="-122"/>
                <a:cs typeface="Calibri" pitchFamily="34" charset="-120"/>
              </a:rPr>
              <a:t>Research Group for Advancing Human Capabilities through Education, Analytics and Development</a:t>
            </a:r>
            <a:endParaRPr lang="en-US" sz="900" dirty="0"/>
          </a:p>
        </p:txBody>
      </p:sp>
      <p:sp>
        <p:nvSpPr>
          <p:cNvPr id="9" name="Text 4"/>
          <p:cNvSpPr txBox="1"/>
          <p:nvPr/>
        </p:nvSpPr>
        <p:spPr>
          <a:xfrm>
            <a:off x="731520" y="1325880"/>
            <a:ext cx="9601200" cy="320040"/>
          </a:xfrm>
          <a:prstGeom prst="rect">
            <a:avLst/>
          </a:prstGeom>
          <a:noFill/>
          <a:ln/>
        </p:spPr>
        <p:txBody>
          <a:bodyPr wrap="square" lIns="0" tIns="0" rIns="0" bIns="0" rtlCol="0" anchor="ctr"/>
          <a:lstStyle/>
          <a:p>
            <a:pPr indent="0" marL="0">
              <a:buNone/>
            </a:pPr>
            <a:r>
              <a:rPr lang="en-US" sz="1200" b="1" spc="400" kern="0" dirty="0">
                <a:solidFill>
                  <a:srgbClr val="B79A5E"/>
                </a:solidFill>
                <a:latin typeface="Calibri" pitchFamily="34" charset="0"/>
                <a:ea typeface="Calibri" pitchFamily="34" charset="-122"/>
                <a:cs typeface="Calibri" pitchFamily="34" charset="-120"/>
              </a:rPr>
              <a:t>READING ROOM</a:t>
            </a:r>
            <a:endParaRPr lang="en-US" sz="1200" dirty="0"/>
          </a:p>
        </p:txBody>
      </p:sp>
      <p:sp>
        <p:nvSpPr>
          <p:cNvPr id="10" name="Text 5"/>
          <p:cNvSpPr txBox="1"/>
          <p:nvPr/>
        </p:nvSpPr>
        <p:spPr>
          <a:xfrm>
            <a:off x="10177272" y="6400800"/>
            <a:ext cx="1280160" cy="274320"/>
          </a:xfrm>
          <a:prstGeom prst="rect">
            <a:avLst/>
          </a:prstGeom>
          <a:noFill/>
          <a:ln/>
        </p:spPr>
        <p:txBody>
          <a:bodyPr wrap="square" lIns="0" tIns="0" rIns="0" bIns="0" rtlCol="0" anchor="ctr"/>
          <a:lstStyle/>
          <a:p>
            <a:pPr algn="r" indent="0" marL="0">
              <a:buNone/>
            </a:pPr>
            <a:r>
              <a:rPr lang="en-US" sz="1000" dirty="0">
                <a:solidFill>
                  <a:srgbClr val="B8CBDA"/>
                </a:solidFill>
                <a:latin typeface="Calibri" pitchFamily="34" charset="0"/>
                <a:ea typeface="Calibri" pitchFamily="34" charset="-122"/>
                <a:cs typeface="Calibri" pitchFamily="34" charset="-120"/>
              </a:rPr>
              <a:t>12 / 16</a:t>
            </a:r>
            <a:endParaRPr lang="en-US" sz="1000" dirty="0"/>
          </a:p>
        </p:txBody>
      </p:sp>
      <p:sp>
        <p:nvSpPr>
          <p:cNvPr id="11" name="Text 6"/>
          <p:cNvSpPr txBox="1"/>
          <p:nvPr/>
        </p:nvSpPr>
        <p:spPr>
          <a:xfrm>
            <a:off x="731520" y="1618488"/>
            <a:ext cx="10607040" cy="91440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Search the literature from your portal</a:t>
            </a:r>
            <a:endParaRPr lang="en-US" sz="3000" dirty="0"/>
          </a:p>
        </p:txBody>
      </p:sp>
      <p:sp>
        <p:nvSpPr>
          <p:cNvPr id="12" name="Shape 7"/>
          <p:cNvSpPr/>
          <p:nvPr/>
        </p:nvSpPr>
        <p:spPr>
          <a:xfrm>
            <a:off x="731520" y="2532888"/>
            <a:ext cx="731520" cy="45720"/>
          </a:xfrm>
          <a:prstGeom prst="rect">
            <a:avLst/>
          </a:prstGeom>
          <a:solidFill>
            <a:srgbClr val="B79A5E"/>
          </a:solidFill>
          <a:ln w="12700">
            <a:solidFill>
              <a:srgbClr val="B79A5E"/>
            </a:solidFill>
            <a:prstDash val="solid"/>
          </a:ln>
        </p:spPr>
      </p:sp>
      <p:pic>
        <p:nvPicPr>
          <p:cNvPr id="13" name="Image 2" descr="/Users/emmanuel_ojo/Library/CloudStorage/Dropbox/Claude Cowork/04 Grants &amp; Fellowships/Wits AHEAD Research Group/11 AHEAD Pathway (supervision platform)/Onboarding/shots/reading.png">    </p:cNvPr>
          <p:cNvPicPr>
            <a:picLocks noChangeAspect="1"/>
          </p:cNvPicPr>
          <p:nvPr/>
        </p:nvPicPr>
        <p:blipFill>
          <a:blip r:embed="rId4"/>
          <a:srcRect l="0" r="0" t="0" b="0"/>
          <a:stretch/>
        </p:blipFill>
        <p:spPr>
          <a:xfrm>
            <a:off x="731520" y="2743200"/>
            <a:ext cx="6583680" cy="3474720"/>
          </a:xfrm>
          <a:prstGeom prst="rect">
            <a:avLst/>
          </a:prstGeom>
          <a:effectLst>
            <a:outerShdw sx="100000" sy="100000" kx="0" ky="0" algn="bl" rotWithShape="0" blurRad="177800" dist="63500" dir="5400000">
              <a:srgbClr val="000000">
                <a:alpha val="45000"/>
              </a:srgbClr>
            </a:outerShdw>
          </a:effectLst>
        </p:spPr>
      </p:pic>
      <p:sp>
        <p:nvSpPr>
          <p:cNvPr id="14" name="Text 8"/>
          <p:cNvSpPr txBox="1"/>
          <p:nvPr/>
        </p:nvSpPr>
        <p:spPr>
          <a:xfrm>
            <a:off x="731520" y="6263640"/>
            <a:ext cx="6583680" cy="502920"/>
          </a:xfrm>
          <a:prstGeom prst="rect">
            <a:avLst/>
          </a:prstGeom>
          <a:noFill/>
          <a:ln/>
        </p:spPr>
        <p:txBody>
          <a:bodyPr wrap="square" lIns="0" tIns="0" rIns="0" bIns="0" rtlCol="0" anchor="ctr"/>
          <a:lstStyle/>
          <a:p>
            <a:pPr indent="0" marL="0">
              <a:buNone/>
            </a:pPr>
            <a:r>
              <a:rPr lang="en-US" sz="1100" dirty="0">
                <a:solidFill>
                  <a:srgbClr val="B8CBDA"/>
                </a:solidFill>
                <a:latin typeface="Calibri" pitchFamily="34" charset="0"/>
                <a:ea typeface="Calibri" pitchFamily="34" charset="-122"/>
                <a:cs typeface="Calibri" pitchFamily="34" charset="-120"/>
              </a:rPr>
              <a:t>The reading room: search Google Scholar, Scopus, Consensus and Semantic Scholar, and keep what matters.</a:t>
            </a:r>
            <a:endParaRPr lang="en-US" sz="1100" dirty="0"/>
          </a:p>
        </p:txBody>
      </p:sp>
      <p:sp>
        <p:nvSpPr>
          <p:cNvPr id="15" name="Text 9"/>
          <p:cNvSpPr txBox="1"/>
          <p:nvPr/>
        </p:nvSpPr>
        <p:spPr>
          <a:xfrm>
            <a:off x="7589520" y="2788920"/>
            <a:ext cx="4023360" cy="384048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Type a question or a topic and open it in Google Scholar, Scopus, Consensus or Semantic Scholar.</a:t>
            </a:r>
            <a:endParaRPr lang="en-US" sz="1500" dirty="0"/>
          </a:p>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Keep a reading with one line; mark it read when you are done.</a:t>
            </a:r>
            <a:endParaRPr lang="en-US" sz="1500" dirty="0"/>
          </a:p>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Readings the Director attaches to feedback appear here too.</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FFFF"/>
          </a:solidFill>
          <a:ln w="12700">
            <a:solidFill>
              <a:srgbClr val="FFFFFF"/>
            </a:solidFill>
            <a:prstDash val="solid"/>
          </a:ln>
        </p:spPr>
      </p:sp>
      <p:sp>
        <p:nvSpPr>
          <p:cNvPr id="3" name="Shape 1"/>
          <p:cNvSpPr/>
          <p:nvPr/>
        </p:nvSpPr>
        <p:spPr>
          <a:xfrm>
            <a:off x="0" y="923544"/>
            <a:ext cx="12188952" cy="36576"/>
          </a:xfrm>
          <a:prstGeom prst="rect">
            <a:avLst/>
          </a:prstGeom>
          <a:solidFill>
            <a:srgbClr val="B79A5E"/>
          </a:solidFill>
          <a:ln w="12700">
            <a:solidFill>
              <a:srgbClr val="B79A5E"/>
            </a:solidFill>
            <a:prstDash val="solid"/>
          </a:ln>
        </p:spPr>
      </p:sp>
      <p:pic>
        <p:nvPicPr>
          <p:cNvPr id="4" name="Image 0" descr="/Users/emmanuel_ojo/Library/CloudStorage/Dropbox/Claude Cowork/04 Grants &amp; Fellowships/Wits AHEAD Research Group/10 Website &amp; Daily Briefing/assets/wits-wsoe-lockup.png">    </p:cNvPr>
          <p:cNvPicPr>
            <a:picLocks noChangeAspect="1"/>
          </p:cNvPicPr>
          <p:nvPr/>
        </p:nvPicPr>
        <p:blipFill>
          <a:blip r:embed="rId2"/>
          <a:stretch>
            <a:fillRect/>
          </a:stretch>
        </p:blipFill>
        <p:spPr>
          <a:xfrm>
            <a:off x="731520" y="182880"/>
            <a:ext cx="3286461" cy="594360"/>
          </a:xfrm>
          <a:prstGeom prst="rect">
            <a:avLst/>
          </a:prstGeom>
        </p:spPr>
      </p:pic>
      <p:sp>
        <p:nvSpPr>
          <p:cNvPr id="5" name="Shape 2"/>
          <p:cNvSpPr/>
          <p:nvPr/>
        </p:nvSpPr>
        <p:spPr>
          <a:xfrm>
            <a:off x="4343400" y="182880"/>
            <a:ext cx="13716" cy="594360"/>
          </a:xfrm>
          <a:prstGeom prst="rect">
            <a:avLst/>
          </a:prstGeom>
          <a:solidFill>
            <a:srgbClr val="003B5C">
              <a:alpha val="50000"/>
            </a:srgbClr>
          </a:solidFill>
          <a:ln w="12700">
            <a:solidFill>
              <a:srgbClr val="003B5C">
                <a:alpha val="50000"/>
              </a:srgbClr>
            </a:solidFill>
            <a:prstDash val="solid"/>
          </a:ln>
        </p:spPr>
      </p:sp>
      <p:pic>
        <p:nvPicPr>
          <p:cNvPr id="6" name="Image 1" descr="/Users/emmanuel_ojo/Library/CloudStorage/Dropbox/Claude Cowork/04 Grants &amp; Fellowships/Wits AHEAD Research Group/10 Website &amp; Daily Briefing/site/assets/logo-600.png">    </p:cNvPr>
          <p:cNvPicPr>
            <a:picLocks noChangeAspect="1"/>
          </p:cNvPicPr>
          <p:nvPr/>
        </p:nvPicPr>
        <p:blipFill>
          <a:blip r:embed="rId3"/>
          <a:stretch>
            <a:fillRect/>
          </a:stretch>
        </p:blipFill>
        <p:spPr>
          <a:xfrm>
            <a:off x="4526280" y="182880"/>
            <a:ext cx="594360" cy="594360"/>
          </a:xfrm>
          <a:prstGeom prst="rect">
            <a:avLst/>
          </a:prstGeom>
        </p:spPr>
      </p:pic>
      <p:sp>
        <p:nvSpPr>
          <p:cNvPr id="7" name="Text 3"/>
          <p:cNvSpPr txBox="1"/>
          <p:nvPr/>
        </p:nvSpPr>
        <p:spPr>
          <a:xfrm>
            <a:off x="5257800" y="109728"/>
            <a:ext cx="4206240" cy="777240"/>
          </a:xfrm>
          <a:prstGeom prst="rect">
            <a:avLst/>
          </a:prstGeom>
          <a:noFill/>
          <a:ln/>
        </p:spPr>
        <p:txBody>
          <a:bodyPr wrap="square" lIns="0" tIns="0" rIns="0" bIns="0" rtlCol="0" anchor="ctr"/>
          <a:lstStyle/>
          <a:p>
            <a:pPr indent="0" marL="0">
              <a:lnSpc>
                <a:spcPct val="95000"/>
              </a:lnSpc>
              <a:buNone/>
            </a:pPr>
            <a:r>
              <a:rPr lang="en-US" sz="900" b="1" spc="600" kern="0" dirty="0">
                <a:solidFill>
                  <a:srgbClr val="B79A5E"/>
                </a:solidFill>
                <a:latin typeface="Calibri" pitchFamily="34" charset="0"/>
                <a:ea typeface="Calibri" pitchFamily="34" charset="-122"/>
                <a:cs typeface="Calibri" pitchFamily="34" charset="-120"/>
              </a:rPr>
              <a:t>WITS</a:t>
            </a:r>
            <a:endParaRPr lang="en-US" sz="900" dirty="0"/>
          </a:p>
          <a:p>
            <a:pPr indent="0" marL="0">
              <a:lnSpc>
                <a:spcPct val="95000"/>
              </a:lnSpc>
              <a:buNone/>
            </a:pPr>
            <a:r>
              <a:rPr lang="en-US" sz="2400" b="1" dirty="0">
                <a:solidFill>
                  <a:srgbClr val="003B5C"/>
                </a:solidFill>
                <a:latin typeface="Calibri" pitchFamily="34" charset="0"/>
                <a:ea typeface="Calibri" pitchFamily="34" charset="-122"/>
                <a:cs typeface="Calibri" pitchFamily="34" charset="-120"/>
              </a:rPr>
              <a:t>AHEAD</a:t>
            </a:r>
            <a:endParaRPr lang="en-US" sz="900" dirty="0"/>
          </a:p>
          <a:p>
            <a:pPr indent="0" marL="0">
              <a:lnSpc>
                <a:spcPct val="95000"/>
              </a:lnSpc>
              <a:buNone/>
            </a:pPr>
            <a:r>
              <a:rPr lang="en-US" sz="850" dirty="0">
                <a:solidFill>
                  <a:srgbClr val="333333"/>
                </a:solidFill>
                <a:latin typeface="Calibri" pitchFamily="34" charset="0"/>
                <a:ea typeface="Calibri" pitchFamily="34" charset="-122"/>
                <a:cs typeface="Calibri" pitchFamily="34" charset="-120"/>
              </a:rPr>
              <a:t>Research Group for Advancing Human Capabilities through Education, Analytics and Development</a:t>
            </a:r>
            <a:endParaRPr lang="en-US" sz="900" dirty="0"/>
          </a:p>
        </p:txBody>
      </p:sp>
      <p:sp>
        <p:nvSpPr>
          <p:cNvPr id="9" name="Text 4"/>
          <p:cNvSpPr txBox="1"/>
          <p:nvPr/>
        </p:nvSpPr>
        <p:spPr>
          <a:xfrm>
            <a:off x="731520" y="1325880"/>
            <a:ext cx="9601200" cy="320040"/>
          </a:xfrm>
          <a:prstGeom prst="rect">
            <a:avLst/>
          </a:prstGeom>
          <a:noFill/>
          <a:ln/>
        </p:spPr>
        <p:txBody>
          <a:bodyPr wrap="square" lIns="0" tIns="0" rIns="0" bIns="0" rtlCol="0" anchor="ctr"/>
          <a:lstStyle/>
          <a:p>
            <a:pPr indent="0" marL="0">
              <a:buNone/>
            </a:pPr>
            <a:r>
              <a:rPr lang="en-US" sz="1200" b="1" spc="400" kern="0" dirty="0">
                <a:solidFill>
                  <a:srgbClr val="B79A5E"/>
                </a:solidFill>
                <a:latin typeface="Calibri" pitchFamily="34" charset="0"/>
                <a:ea typeface="Calibri" pitchFamily="34" charset="-122"/>
                <a:cs typeface="Calibri" pitchFamily="34" charset="-120"/>
              </a:rPr>
              <a:t>MESSAGES, MEETINGS AND CALLS</a:t>
            </a:r>
            <a:endParaRPr lang="en-US" sz="1200" dirty="0"/>
          </a:p>
        </p:txBody>
      </p:sp>
      <p:sp>
        <p:nvSpPr>
          <p:cNvPr id="10" name="Text 5"/>
          <p:cNvSpPr txBox="1"/>
          <p:nvPr/>
        </p:nvSpPr>
        <p:spPr>
          <a:xfrm>
            <a:off x="10177272" y="6400800"/>
            <a:ext cx="1280160" cy="274320"/>
          </a:xfrm>
          <a:prstGeom prst="rect">
            <a:avLst/>
          </a:prstGeom>
          <a:noFill/>
          <a:ln/>
        </p:spPr>
        <p:txBody>
          <a:bodyPr wrap="square" lIns="0" tIns="0" rIns="0" bIns="0" rtlCol="0" anchor="ctr"/>
          <a:lstStyle/>
          <a:p>
            <a:pPr algn="r" indent="0" marL="0">
              <a:buNone/>
            </a:pPr>
            <a:r>
              <a:rPr lang="en-US" sz="1000" dirty="0">
                <a:solidFill>
                  <a:srgbClr val="B8CBDA"/>
                </a:solidFill>
                <a:latin typeface="Calibri" pitchFamily="34" charset="0"/>
                <a:ea typeface="Calibri" pitchFamily="34" charset="-122"/>
                <a:cs typeface="Calibri" pitchFamily="34" charset="-120"/>
              </a:rPr>
              <a:t>13 / 16</a:t>
            </a:r>
            <a:endParaRPr lang="en-US" sz="1000" dirty="0"/>
          </a:p>
        </p:txBody>
      </p:sp>
      <p:sp>
        <p:nvSpPr>
          <p:cNvPr id="11" name="Text 6"/>
          <p:cNvSpPr txBox="1"/>
          <p:nvPr/>
        </p:nvSpPr>
        <p:spPr>
          <a:xfrm>
            <a:off x="731520" y="1618488"/>
            <a:ext cx="10607040" cy="91440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Talk to your supervisor, on the record</a:t>
            </a:r>
            <a:endParaRPr lang="en-US" sz="3000" dirty="0"/>
          </a:p>
        </p:txBody>
      </p:sp>
      <p:sp>
        <p:nvSpPr>
          <p:cNvPr id="12" name="Shape 7"/>
          <p:cNvSpPr/>
          <p:nvPr/>
        </p:nvSpPr>
        <p:spPr>
          <a:xfrm>
            <a:off x="731520" y="2532888"/>
            <a:ext cx="731520" cy="45720"/>
          </a:xfrm>
          <a:prstGeom prst="rect">
            <a:avLst/>
          </a:prstGeom>
          <a:solidFill>
            <a:srgbClr val="B79A5E"/>
          </a:solidFill>
          <a:ln w="12700">
            <a:solidFill>
              <a:srgbClr val="B79A5E"/>
            </a:solidFill>
            <a:prstDash val="solid"/>
          </a:ln>
        </p:spPr>
      </p:sp>
      <p:pic>
        <p:nvPicPr>
          <p:cNvPr id="13" name="Image 2" descr="/Users/emmanuel_ojo/Library/CloudStorage/Dropbox/Claude Cowork/04 Grants &amp; Fellowships/Wits AHEAD Research Group/11 AHEAD Pathway (supervision platform)/Onboarding/shots/messages.png">    </p:cNvPr>
          <p:cNvPicPr>
            <a:picLocks noChangeAspect="1"/>
          </p:cNvPicPr>
          <p:nvPr/>
        </p:nvPicPr>
        <p:blipFill>
          <a:blip r:embed="rId4"/>
          <a:srcRect l="0" r="0" t="0" b="0"/>
          <a:stretch/>
        </p:blipFill>
        <p:spPr>
          <a:xfrm>
            <a:off x="731520" y="2743200"/>
            <a:ext cx="6583680" cy="3474720"/>
          </a:xfrm>
          <a:prstGeom prst="rect">
            <a:avLst/>
          </a:prstGeom>
          <a:effectLst>
            <a:outerShdw sx="100000" sy="100000" kx="0" ky="0" algn="bl" rotWithShape="0" blurRad="177800" dist="63500" dir="5400000">
              <a:srgbClr val="000000">
                <a:alpha val="45000"/>
              </a:srgbClr>
            </a:outerShdw>
          </a:effectLst>
        </p:spPr>
      </p:pic>
      <p:sp>
        <p:nvSpPr>
          <p:cNvPr id="14" name="Text 8"/>
          <p:cNvSpPr txBox="1"/>
          <p:nvPr/>
        </p:nvSpPr>
        <p:spPr>
          <a:xfrm>
            <a:off x="731520" y="6263640"/>
            <a:ext cx="6583680" cy="502920"/>
          </a:xfrm>
          <a:prstGeom prst="rect">
            <a:avLst/>
          </a:prstGeom>
          <a:noFill/>
          <a:ln/>
        </p:spPr>
        <p:txBody>
          <a:bodyPr wrap="square" lIns="0" tIns="0" rIns="0" bIns="0" rtlCol="0" anchor="ctr"/>
          <a:lstStyle/>
          <a:p>
            <a:pPr indent="0" marL="0">
              <a:buNone/>
            </a:pPr>
            <a:r>
              <a:rPr lang="en-US" sz="1100" dirty="0">
                <a:solidFill>
                  <a:srgbClr val="B8CBDA"/>
                </a:solidFill>
                <a:latin typeface="Calibri" pitchFamily="34" charset="0"/>
                <a:ea typeface="Calibri" pitchFamily="34" charset="-122"/>
                <a:cs typeface="Calibri" pitchFamily="34" charset="-120"/>
              </a:rPr>
              <a:t>Messages with the Director, and voice or video calls inside the platform, recorded with a written record sent to both of you.</a:t>
            </a:r>
            <a:endParaRPr lang="en-US" sz="1100" dirty="0"/>
          </a:p>
        </p:txBody>
      </p:sp>
      <p:sp>
        <p:nvSpPr>
          <p:cNvPr id="15" name="Text 9"/>
          <p:cNvSpPr txBox="1"/>
          <p:nvPr/>
        </p:nvSpPr>
        <p:spPr>
          <a:xfrm>
            <a:off x="7589520" y="2788920"/>
            <a:ext cx="4023360" cy="384048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Write to the Director on the portal; it rings on his phone as it rings on yours.</a:t>
            </a:r>
            <a:endParaRPr lang="en-US" sz="1500" dirty="0"/>
          </a:p>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Meetings go into both calendars; a monthly check-in keeps him informed of how you are.</a:t>
            </a:r>
            <a:endParaRPr lang="en-US" sz="1500" dirty="0"/>
          </a:p>
          <a:p>
            <a:pPr marL="342900" indent="-342900">
              <a:lnSpc>
                <a:spcPct val="115000"/>
              </a:lnSpc>
              <a:spcAft>
                <a:spcPts val="1000"/>
              </a:spcAft>
              <a:buSzPct val="100000"/>
              <a:buChar char="●"/>
            </a:pPr>
            <a:r>
              <a:rPr lang="en-US" sz="1500" dirty="0">
                <a:solidFill>
                  <a:srgbClr val="EAF1F7"/>
                </a:solidFill>
                <a:latin typeface="Calibri" pitchFamily="34" charset="0"/>
                <a:ea typeface="Calibri" pitchFamily="34" charset="-122"/>
                <a:cs typeface="Calibri" pitchFamily="34" charset="-120"/>
              </a:rPr>
              <a:t>Voice and video calls happen inside Pathway, on your phone or computer, and a written record follows every call.</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FFFF"/>
          </a:solidFill>
          <a:ln w="12700">
            <a:solidFill>
              <a:srgbClr val="FFFFFF"/>
            </a:solidFill>
            <a:prstDash val="solid"/>
          </a:ln>
        </p:spPr>
      </p:sp>
      <p:sp>
        <p:nvSpPr>
          <p:cNvPr id="3" name="Shape 1"/>
          <p:cNvSpPr/>
          <p:nvPr/>
        </p:nvSpPr>
        <p:spPr>
          <a:xfrm>
            <a:off x="0" y="923544"/>
            <a:ext cx="12188952" cy="36576"/>
          </a:xfrm>
          <a:prstGeom prst="rect">
            <a:avLst/>
          </a:prstGeom>
          <a:solidFill>
            <a:srgbClr val="B79A5E"/>
          </a:solidFill>
          <a:ln w="12700">
            <a:solidFill>
              <a:srgbClr val="B79A5E"/>
            </a:solidFill>
            <a:prstDash val="solid"/>
          </a:ln>
        </p:spPr>
      </p:sp>
      <p:pic>
        <p:nvPicPr>
          <p:cNvPr id="4" name="Image 0" descr="/Users/emmanuel_ojo/Library/CloudStorage/Dropbox/Claude Cowork/04 Grants &amp; Fellowships/Wits AHEAD Research Group/10 Website &amp; Daily Briefing/assets/wits-wsoe-lockup.png">    </p:cNvPr>
          <p:cNvPicPr>
            <a:picLocks noChangeAspect="1"/>
          </p:cNvPicPr>
          <p:nvPr/>
        </p:nvPicPr>
        <p:blipFill>
          <a:blip r:embed="rId2"/>
          <a:stretch>
            <a:fillRect/>
          </a:stretch>
        </p:blipFill>
        <p:spPr>
          <a:xfrm>
            <a:off x="731520" y="182880"/>
            <a:ext cx="3286461" cy="594360"/>
          </a:xfrm>
          <a:prstGeom prst="rect">
            <a:avLst/>
          </a:prstGeom>
        </p:spPr>
      </p:pic>
      <p:sp>
        <p:nvSpPr>
          <p:cNvPr id="5" name="Shape 2"/>
          <p:cNvSpPr/>
          <p:nvPr/>
        </p:nvSpPr>
        <p:spPr>
          <a:xfrm>
            <a:off x="4343400" y="182880"/>
            <a:ext cx="13716" cy="594360"/>
          </a:xfrm>
          <a:prstGeom prst="rect">
            <a:avLst/>
          </a:prstGeom>
          <a:solidFill>
            <a:srgbClr val="003B5C">
              <a:alpha val="50000"/>
            </a:srgbClr>
          </a:solidFill>
          <a:ln w="12700">
            <a:solidFill>
              <a:srgbClr val="003B5C">
                <a:alpha val="50000"/>
              </a:srgbClr>
            </a:solidFill>
            <a:prstDash val="solid"/>
          </a:ln>
        </p:spPr>
      </p:sp>
      <p:pic>
        <p:nvPicPr>
          <p:cNvPr id="6" name="Image 1" descr="/Users/emmanuel_ojo/Library/CloudStorage/Dropbox/Claude Cowork/04 Grants &amp; Fellowships/Wits AHEAD Research Group/10 Website &amp; Daily Briefing/site/assets/logo-600.png">    </p:cNvPr>
          <p:cNvPicPr>
            <a:picLocks noChangeAspect="1"/>
          </p:cNvPicPr>
          <p:nvPr/>
        </p:nvPicPr>
        <p:blipFill>
          <a:blip r:embed="rId3"/>
          <a:stretch>
            <a:fillRect/>
          </a:stretch>
        </p:blipFill>
        <p:spPr>
          <a:xfrm>
            <a:off x="4526280" y="182880"/>
            <a:ext cx="594360" cy="594360"/>
          </a:xfrm>
          <a:prstGeom prst="rect">
            <a:avLst/>
          </a:prstGeom>
        </p:spPr>
      </p:pic>
      <p:sp>
        <p:nvSpPr>
          <p:cNvPr id="7" name="Text 3"/>
          <p:cNvSpPr txBox="1"/>
          <p:nvPr/>
        </p:nvSpPr>
        <p:spPr>
          <a:xfrm>
            <a:off x="5257800" y="109728"/>
            <a:ext cx="4206240" cy="777240"/>
          </a:xfrm>
          <a:prstGeom prst="rect">
            <a:avLst/>
          </a:prstGeom>
          <a:noFill/>
          <a:ln/>
        </p:spPr>
        <p:txBody>
          <a:bodyPr wrap="square" lIns="0" tIns="0" rIns="0" bIns="0" rtlCol="0" anchor="ctr"/>
          <a:lstStyle/>
          <a:p>
            <a:pPr indent="0" marL="0">
              <a:lnSpc>
                <a:spcPct val="95000"/>
              </a:lnSpc>
              <a:buNone/>
            </a:pPr>
            <a:r>
              <a:rPr lang="en-US" sz="900" b="1" spc="600" kern="0" dirty="0">
                <a:solidFill>
                  <a:srgbClr val="B79A5E"/>
                </a:solidFill>
                <a:latin typeface="Calibri" pitchFamily="34" charset="0"/>
                <a:ea typeface="Calibri" pitchFamily="34" charset="-122"/>
                <a:cs typeface="Calibri" pitchFamily="34" charset="-120"/>
              </a:rPr>
              <a:t>WITS</a:t>
            </a:r>
            <a:endParaRPr lang="en-US" sz="900" dirty="0"/>
          </a:p>
          <a:p>
            <a:pPr indent="0" marL="0">
              <a:lnSpc>
                <a:spcPct val="95000"/>
              </a:lnSpc>
              <a:buNone/>
            </a:pPr>
            <a:r>
              <a:rPr lang="en-US" sz="2400" b="1" dirty="0">
                <a:solidFill>
                  <a:srgbClr val="003B5C"/>
                </a:solidFill>
                <a:latin typeface="Calibri" pitchFamily="34" charset="0"/>
                <a:ea typeface="Calibri" pitchFamily="34" charset="-122"/>
                <a:cs typeface="Calibri" pitchFamily="34" charset="-120"/>
              </a:rPr>
              <a:t>AHEAD</a:t>
            </a:r>
            <a:endParaRPr lang="en-US" sz="900" dirty="0"/>
          </a:p>
          <a:p>
            <a:pPr indent="0" marL="0">
              <a:lnSpc>
                <a:spcPct val="95000"/>
              </a:lnSpc>
              <a:buNone/>
            </a:pPr>
            <a:r>
              <a:rPr lang="en-US" sz="850" dirty="0">
                <a:solidFill>
                  <a:srgbClr val="333333"/>
                </a:solidFill>
                <a:latin typeface="Calibri" pitchFamily="34" charset="0"/>
                <a:ea typeface="Calibri" pitchFamily="34" charset="-122"/>
                <a:cs typeface="Calibri" pitchFamily="34" charset="-120"/>
              </a:rPr>
              <a:t>Research Group for Advancing Human Capabilities through Education, Analytics and Development</a:t>
            </a:r>
            <a:endParaRPr lang="en-US" sz="900" dirty="0"/>
          </a:p>
        </p:txBody>
      </p:sp>
      <p:sp>
        <p:nvSpPr>
          <p:cNvPr id="9" name="Text 4"/>
          <p:cNvSpPr txBox="1"/>
          <p:nvPr/>
        </p:nvSpPr>
        <p:spPr>
          <a:xfrm>
            <a:off x="731520" y="1325880"/>
            <a:ext cx="9601200" cy="320040"/>
          </a:xfrm>
          <a:prstGeom prst="rect">
            <a:avLst/>
          </a:prstGeom>
          <a:noFill/>
          <a:ln/>
        </p:spPr>
        <p:txBody>
          <a:bodyPr wrap="square" lIns="0" tIns="0" rIns="0" bIns="0" rtlCol="0" anchor="ctr"/>
          <a:lstStyle/>
          <a:p>
            <a:pPr indent="0" marL="0">
              <a:buNone/>
            </a:pPr>
            <a:r>
              <a:rPr lang="en-US" sz="1200" b="1" spc="400" kern="0" dirty="0">
                <a:solidFill>
                  <a:srgbClr val="B79A5E"/>
                </a:solidFill>
                <a:latin typeface="Calibri" pitchFamily="34" charset="0"/>
                <a:ea typeface="Calibri" pitchFamily="34" charset="-122"/>
                <a:cs typeface="Calibri" pitchFamily="34" charset="-120"/>
              </a:rPr>
              <a:t>STAY CONNECTED</a:t>
            </a:r>
            <a:endParaRPr lang="en-US" sz="1200" dirty="0"/>
          </a:p>
        </p:txBody>
      </p:sp>
      <p:sp>
        <p:nvSpPr>
          <p:cNvPr id="10" name="Text 5"/>
          <p:cNvSpPr txBox="1"/>
          <p:nvPr/>
        </p:nvSpPr>
        <p:spPr>
          <a:xfrm>
            <a:off x="10177272" y="6400800"/>
            <a:ext cx="1280160" cy="274320"/>
          </a:xfrm>
          <a:prstGeom prst="rect">
            <a:avLst/>
          </a:prstGeom>
          <a:noFill/>
          <a:ln/>
        </p:spPr>
        <p:txBody>
          <a:bodyPr wrap="square" lIns="0" tIns="0" rIns="0" bIns="0" rtlCol="0" anchor="ctr"/>
          <a:lstStyle/>
          <a:p>
            <a:pPr algn="r" indent="0" marL="0">
              <a:buNone/>
            </a:pPr>
            <a:r>
              <a:rPr lang="en-US" sz="1000" dirty="0">
                <a:solidFill>
                  <a:srgbClr val="B8CBDA"/>
                </a:solidFill>
                <a:latin typeface="Calibri" pitchFamily="34" charset="0"/>
                <a:ea typeface="Calibri" pitchFamily="34" charset="-122"/>
                <a:cs typeface="Calibri" pitchFamily="34" charset="-120"/>
              </a:rPr>
              <a:t>14 / 16</a:t>
            </a:r>
            <a:endParaRPr lang="en-US" sz="1000" dirty="0"/>
          </a:p>
        </p:txBody>
      </p:sp>
      <p:sp>
        <p:nvSpPr>
          <p:cNvPr id="11" name="Text 6"/>
          <p:cNvSpPr txBox="1"/>
          <p:nvPr/>
        </p:nvSpPr>
        <p:spPr>
          <a:xfrm>
            <a:off x="731520" y="1618488"/>
            <a:ext cx="10607040" cy="91440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Follow Wits AHEAD, every day</a:t>
            </a:r>
            <a:endParaRPr lang="en-US" sz="3000" dirty="0"/>
          </a:p>
        </p:txBody>
      </p:sp>
      <p:sp>
        <p:nvSpPr>
          <p:cNvPr id="12" name="Shape 7"/>
          <p:cNvSpPr/>
          <p:nvPr/>
        </p:nvSpPr>
        <p:spPr>
          <a:xfrm>
            <a:off x="731520" y="2532888"/>
            <a:ext cx="731520" cy="45720"/>
          </a:xfrm>
          <a:prstGeom prst="rect">
            <a:avLst/>
          </a:prstGeom>
          <a:solidFill>
            <a:srgbClr val="B79A5E"/>
          </a:solidFill>
          <a:ln w="12700">
            <a:solidFill>
              <a:srgbClr val="B79A5E"/>
            </a:solidFill>
            <a:prstDash val="solid"/>
          </a:ln>
        </p:spPr>
      </p:sp>
      <p:sp>
        <p:nvSpPr>
          <p:cNvPr id="13" name="Shape 8"/>
          <p:cNvSpPr/>
          <p:nvPr/>
        </p:nvSpPr>
        <p:spPr>
          <a:xfrm>
            <a:off x="731520" y="2743200"/>
            <a:ext cx="5212080" cy="777240"/>
          </a:xfrm>
          <a:prstGeom prst="roundRect">
            <a:avLst>
              <a:gd name="adj" fmla="val 14118"/>
            </a:avLst>
          </a:prstGeom>
          <a:solidFill>
            <a:srgbClr val="FFFFFF">
              <a:alpha val="10000"/>
            </a:srgbClr>
          </a:solidFill>
          <a:ln w="12700">
            <a:solidFill>
              <a:srgbClr val="FFFFFF">
                <a:alpha val="20000"/>
              </a:srgbClr>
            </a:solidFill>
            <a:prstDash val="solid"/>
          </a:ln>
        </p:spPr>
      </p:sp>
      <p:sp>
        <p:nvSpPr>
          <p:cNvPr id="14" name="Text 9"/>
          <p:cNvSpPr txBox="1"/>
          <p:nvPr/>
        </p:nvSpPr>
        <p:spPr>
          <a:xfrm>
            <a:off x="960120" y="2798064"/>
            <a:ext cx="4754880" cy="658368"/>
          </a:xfrm>
          <a:prstGeom prst="rect">
            <a:avLst/>
          </a:prstGeom>
          <a:noFill/>
          <a:ln/>
        </p:spPr>
        <p:txBody>
          <a:bodyPr wrap="square" lIns="0" tIns="0" rIns="0" bIns="0" rtlCol="0" anchor="ctr"/>
          <a:lstStyle/>
          <a:p>
            <a:pPr indent="0" marL="0">
              <a:buNone/>
            </a:pPr>
            <a:r>
              <a:rPr lang="en-US" sz="1700" b="1" dirty="0">
                <a:solidFill>
                  <a:srgbClr val="B79A5E"/>
                </a:solidFill>
                <a:latin typeface="Calibri" pitchFamily="34" charset="0"/>
                <a:ea typeface="Calibri" pitchFamily="34" charset="-122"/>
                <a:cs typeface="Calibri" pitchFamily="34" charset="-120"/>
              </a:rPr>
              <a:t>Website</a:t>
            </a:r>
            <a:endParaRPr lang="en-US" sz="1700" dirty="0"/>
          </a:p>
          <a:p>
            <a:pPr indent="0" marL="0">
              <a:buNone/>
            </a:pPr>
            <a:r>
              <a:rPr lang="en-US" sz="1300" dirty="0">
                <a:solidFill>
                  <a:srgbClr val="FFFFFF"/>
                </a:solidFill>
                <a:latin typeface="Calibri" pitchFamily="34" charset="0"/>
                <a:ea typeface="Calibri" pitchFamily="34" charset="-122"/>
                <a:cs typeface="Calibri" pitchFamily="34" charset="-120"/>
              </a:rPr>
              <a:t>www.witsahead.org</a:t>
            </a:r>
            <a:endParaRPr lang="en-US" sz="1700" dirty="0"/>
          </a:p>
        </p:txBody>
      </p:sp>
      <p:sp>
        <p:nvSpPr>
          <p:cNvPr id="15" name="Shape 10"/>
          <p:cNvSpPr/>
          <p:nvPr/>
        </p:nvSpPr>
        <p:spPr>
          <a:xfrm>
            <a:off x="6217920" y="2743200"/>
            <a:ext cx="5212080" cy="777240"/>
          </a:xfrm>
          <a:prstGeom prst="roundRect">
            <a:avLst>
              <a:gd name="adj" fmla="val 14118"/>
            </a:avLst>
          </a:prstGeom>
          <a:solidFill>
            <a:srgbClr val="FFFFFF">
              <a:alpha val="10000"/>
            </a:srgbClr>
          </a:solidFill>
          <a:ln w="12700">
            <a:solidFill>
              <a:srgbClr val="FFFFFF">
                <a:alpha val="20000"/>
              </a:srgbClr>
            </a:solidFill>
            <a:prstDash val="solid"/>
          </a:ln>
        </p:spPr>
      </p:sp>
      <p:sp>
        <p:nvSpPr>
          <p:cNvPr id="16" name="Text 11"/>
          <p:cNvSpPr txBox="1"/>
          <p:nvPr/>
        </p:nvSpPr>
        <p:spPr>
          <a:xfrm>
            <a:off x="6446520" y="2798064"/>
            <a:ext cx="4754880" cy="658368"/>
          </a:xfrm>
          <a:prstGeom prst="rect">
            <a:avLst/>
          </a:prstGeom>
          <a:noFill/>
          <a:ln/>
        </p:spPr>
        <p:txBody>
          <a:bodyPr wrap="square" lIns="0" tIns="0" rIns="0" bIns="0" rtlCol="0" anchor="ctr"/>
          <a:lstStyle/>
          <a:p>
            <a:pPr indent="0" marL="0">
              <a:buNone/>
            </a:pPr>
            <a:r>
              <a:rPr lang="en-US" sz="1700" b="1" dirty="0">
                <a:solidFill>
                  <a:srgbClr val="B79A5E"/>
                </a:solidFill>
                <a:latin typeface="Calibri" pitchFamily="34" charset="0"/>
                <a:ea typeface="Calibri" pitchFamily="34" charset="-122"/>
                <a:cs typeface="Calibri" pitchFamily="34" charset="-120"/>
              </a:rPr>
              <a:t>WhatsApp channel</a:t>
            </a:r>
            <a:endParaRPr lang="en-US" sz="1700" dirty="0"/>
          </a:p>
          <a:p>
            <a:pPr indent="0" marL="0">
              <a:buNone/>
            </a:pPr>
            <a:r>
              <a:rPr lang="en-US" sz="1300" dirty="0">
                <a:solidFill>
                  <a:srgbClr val="FFFFFF"/>
                </a:solidFill>
                <a:latin typeface="Calibri" pitchFamily="34" charset="0"/>
                <a:ea typeface="Calibri" pitchFamily="34" charset="-122"/>
                <a:cs typeface="Calibri" pitchFamily="34" charset="-120"/>
              </a:rPr>
              <a:t>whatsapp.com/channel/0029VbDoYzVAInPhU1WTxO38</a:t>
            </a:r>
            <a:endParaRPr lang="en-US" sz="1700" dirty="0"/>
          </a:p>
        </p:txBody>
      </p:sp>
      <p:sp>
        <p:nvSpPr>
          <p:cNvPr id="17" name="Shape 12"/>
          <p:cNvSpPr/>
          <p:nvPr/>
        </p:nvSpPr>
        <p:spPr>
          <a:xfrm>
            <a:off x="731520" y="3657600"/>
            <a:ext cx="5212080" cy="777240"/>
          </a:xfrm>
          <a:prstGeom prst="roundRect">
            <a:avLst>
              <a:gd name="adj" fmla="val 14118"/>
            </a:avLst>
          </a:prstGeom>
          <a:solidFill>
            <a:srgbClr val="FFFFFF">
              <a:alpha val="10000"/>
            </a:srgbClr>
          </a:solidFill>
          <a:ln w="12700">
            <a:solidFill>
              <a:srgbClr val="FFFFFF">
                <a:alpha val="20000"/>
              </a:srgbClr>
            </a:solidFill>
            <a:prstDash val="solid"/>
          </a:ln>
        </p:spPr>
      </p:sp>
      <p:sp>
        <p:nvSpPr>
          <p:cNvPr id="18" name="Text 13"/>
          <p:cNvSpPr txBox="1"/>
          <p:nvPr/>
        </p:nvSpPr>
        <p:spPr>
          <a:xfrm>
            <a:off x="960120" y="3712464"/>
            <a:ext cx="4754880" cy="658368"/>
          </a:xfrm>
          <a:prstGeom prst="rect">
            <a:avLst/>
          </a:prstGeom>
          <a:noFill/>
          <a:ln/>
        </p:spPr>
        <p:txBody>
          <a:bodyPr wrap="square" lIns="0" tIns="0" rIns="0" bIns="0" rtlCol="0" anchor="ctr"/>
          <a:lstStyle/>
          <a:p>
            <a:pPr indent="0" marL="0">
              <a:buNone/>
            </a:pPr>
            <a:r>
              <a:rPr lang="en-US" sz="1700" b="1" dirty="0">
                <a:solidFill>
                  <a:srgbClr val="B79A5E"/>
                </a:solidFill>
                <a:latin typeface="Calibri" pitchFamily="34" charset="0"/>
                <a:ea typeface="Calibri" pitchFamily="34" charset="-122"/>
                <a:cs typeface="Calibri" pitchFamily="34" charset="-120"/>
              </a:rPr>
              <a:t>LinkedIn</a:t>
            </a:r>
            <a:endParaRPr lang="en-US" sz="1700" dirty="0"/>
          </a:p>
          <a:p>
            <a:pPr indent="0" marL="0">
              <a:buNone/>
            </a:pPr>
            <a:r>
              <a:rPr lang="en-US" sz="1300" dirty="0">
                <a:solidFill>
                  <a:srgbClr val="FFFFFF"/>
                </a:solidFill>
                <a:latin typeface="Calibri" pitchFamily="34" charset="0"/>
                <a:ea typeface="Calibri" pitchFamily="34" charset="-122"/>
                <a:cs typeface="Calibri" pitchFamily="34" charset="-120"/>
              </a:rPr>
              <a:t>linkedin.com/company/witsahead</a:t>
            </a:r>
            <a:endParaRPr lang="en-US" sz="1700" dirty="0"/>
          </a:p>
        </p:txBody>
      </p:sp>
      <p:sp>
        <p:nvSpPr>
          <p:cNvPr id="19" name="Shape 14"/>
          <p:cNvSpPr/>
          <p:nvPr/>
        </p:nvSpPr>
        <p:spPr>
          <a:xfrm>
            <a:off x="6217920" y="3657600"/>
            <a:ext cx="5212080" cy="777240"/>
          </a:xfrm>
          <a:prstGeom prst="roundRect">
            <a:avLst>
              <a:gd name="adj" fmla="val 14118"/>
            </a:avLst>
          </a:prstGeom>
          <a:solidFill>
            <a:srgbClr val="FFFFFF">
              <a:alpha val="10000"/>
            </a:srgbClr>
          </a:solidFill>
          <a:ln w="12700">
            <a:solidFill>
              <a:srgbClr val="FFFFFF">
                <a:alpha val="20000"/>
              </a:srgbClr>
            </a:solidFill>
            <a:prstDash val="solid"/>
          </a:ln>
        </p:spPr>
      </p:sp>
      <p:sp>
        <p:nvSpPr>
          <p:cNvPr id="20" name="Text 15"/>
          <p:cNvSpPr txBox="1"/>
          <p:nvPr/>
        </p:nvSpPr>
        <p:spPr>
          <a:xfrm>
            <a:off x="6446520" y="3712464"/>
            <a:ext cx="4754880" cy="658368"/>
          </a:xfrm>
          <a:prstGeom prst="rect">
            <a:avLst/>
          </a:prstGeom>
          <a:noFill/>
          <a:ln/>
        </p:spPr>
        <p:txBody>
          <a:bodyPr wrap="square" lIns="0" tIns="0" rIns="0" bIns="0" rtlCol="0" anchor="ctr"/>
          <a:lstStyle/>
          <a:p>
            <a:pPr indent="0" marL="0">
              <a:buNone/>
            </a:pPr>
            <a:r>
              <a:rPr lang="en-US" sz="1700" b="1" dirty="0">
                <a:solidFill>
                  <a:srgbClr val="B79A5E"/>
                </a:solidFill>
                <a:latin typeface="Calibri" pitchFamily="34" charset="0"/>
                <a:ea typeface="Calibri" pitchFamily="34" charset="-122"/>
                <a:cs typeface="Calibri" pitchFamily="34" charset="-120"/>
              </a:rPr>
              <a:t>X</a:t>
            </a:r>
            <a:endParaRPr lang="en-US" sz="1700" dirty="0"/>
          </a:p>
          <a:p>
            <a:pPr indent="0" marL="0">
              <a:buNone/>
            </a:pPr>
            <a:r>
              <a:rPr lang="en-US" sz="1300" dirty="0">
                <a:solidFill>
                  <a:srgbClr val="FFFFFF"/>
                </a:solidFill>
                <a:latin typeface="Calibri" pitchFamily="34" charset="0"/>
                <a:ea typeface="Calibri" pitchFamily="34" charset="-122"/>
                <a:cs typeface="Calibri" pitchFamily="34" charset="-120"/>
              </a:rPr>
              <a:t>x.com/WitsAHEAD</a:t>
            </a:r>
            <a:endParaRPr lang="en-US" sz="1700" dirty="0"/>
          </a:p>
        </p:txBody>
      </p:sp>
      <p:sp>
        <p:nvSpPr>
          <p:cNvPr id="21" name="Shape 16"/>
          <p:cNvSpPr/>
          <p:nvPr/>
        </p:nvSpPr>
        <p:spPr>
          <a:xfrm>
            <a:off x="731520" y="4572000"/>
            <a:ext cx="5212080" cy="777240"/>
          </a:xfrm>
          <a:prstGeom prst="roundRect">
            <a:avLst>
              <a:gd name="adj" fmla="val 14118"/>
            </a:avLst>
          </a:prstGeom>
          <a:solidFill>
            <a:srgbClr val="FFFFFF">
              <a:alpha val="10000"/>
            </a:srgbClr>
          </a:solidFill>
          <a:ln w="12700">
            <a:solidFill>
              <a:srgbClr val="FFFFFF">
                <a:alpha val="20000"/>
              </a:srgbClr>
            </a:solidFill>
            <a:prstDash val="solid"/>
          </a:ln>
        </p:spPr>
      </p:sp>
      <p:sp>
        <p:nvSpPr>
          <p:cNvPr id="22" name="Text 17"/>
          <p:cNvSpPr txBox="1"/>
          <p:nvPr/>
        </p:nvSpPr>
        <p:spPr>
          <a:xfrm>
            <a:off x="960120" y="4626864"/>
            <a:ext cx="4754880" cy="658368"/>
          </a:xfrm>
          <a:prstGeom prst="rect">
            <a:avLst/>
          </a:prstGeom>
          <a:noFill/>
          <a:ln/>
        </p:spPr>
        <p:txBody>
          <a:bodyPr wrap="square" lIns="0" tIns="0" rIns="0" bIns="0" rtlCol="0" anchor="ctr"/>
          <a:lstStyle/>
          <a:p>
            <a:pPr indent="0" marL="0">
              <a:buNone/>
            </a:pPr>
            <a:r>
              <a:rPr lang="en-US" sz="1700" b="1" dirty="0">
                <a:solidFill>
                  <a:srgbClr val="B79A5E"/>
                </a:solidFill>
                <a:latin typeface="Calibri" pitchFamily="34" charset="0"/>
                <a:ea typeface="Calibri" pitchFamily="34" charset="-122"/>
                <a:cs typeface="Calibri" pitchFamily="34" charset="-120"/>
              </a:rPr>
              <a:t>Instagram</a:t>
            </a:r>
            <a:endParaRPr lang="en-US" sz="1700" dirty="0"/>
          </a:p>
          <a:p>
            <a:pPr indent="0" marL="0">
              <a:buNone/>
            </a:pPr>
            <a:r>
              <a:rPr lang="en-US" sz="1300" dirty="0">
                <a:solidFill>
                  <a:srgbClr val="FFFFFF"/>
                </a:solidFill>
                <a:latin typeface="Calibri" pitchFamily="34" charset="0"/>
                <a:ea typeface="Calibri" pitchFamily="34" charset="-122"/>
                <a:cs typeface="Calibri" pitchFamily="34" charset="-120"/>
              </a:rPr>
              <a:t>instagram.com/witsahead</a:t>
            </a:r>
            <a:endParaRPr lang="en-US" sz="1700" dirty="0"/>
          </a:p>
        </p:txBody>
      </p:sp>
      <p:sp>
        <p:nvSpPr>
          <p:cNvPr id="23" name="Shape 18"/>
          <p:cNvSpPr/>
          <p:nvPr/>
        </p:nvSpPr>
        <p:spPr>
          <a:xfrm>
            <a:off x="6217920" y="4572000"/>
            <a:ext cx="5212080" cy="777240"/>
          </a:xfrm>
          <a:prstGeom prst="roundRect">
            <a:avLst>
              <a:gd name="adj" fmla="val 14118"/>
            </a:avLst>
          </a:prstGeom>
          <a:solidFill>
            <a:srgbClr val="FFFFFF">
              <a:alpha val="10000"/>
            </a:srgbClr>
          </a:solidFill>
          <a:ln w="12700">
            <a:solidFill>
              <a:srgbClr val="FFFFFF">
                <a:alpha val="20000"/>
              </a:srgbClr>
            </a:solidFill>
            <a:prstDash val="solid"/>
          </a:ln>
        </p:spPr>
      </p:sp>
      <p:sp>
        <p:nvSpPr>
          <p:cNvPr id="24" name="Text 19"/>
          <p:cNvSpPr txBox="1"/>
          <p:nvPr/>
        </p:nvSpPr>
        <p:spPr>
          <a:xfrm>
            <a:off x="6446520" y="4626864"/>
            <a:ext cx="4754880" cy="658368"/>
          </a:xfrm>
          <a:prstGeom prst="rect">
            <a:avLst/>
          </a:prstGeom>
          <a:noFill/>
          <a:ln/>
        </p:spPr>
        <p:txBody>
          <a:bodyPr wrap="square" lIns="0" tIns="0" rIns="0" bIns="0" rtlCol="0" anchor="ctr"/>
          <a:lstStyle/>
          <a:p>
            <a:pPr indent="0" marL="0">
              <a:buNone/>
            </a:pPr>
            <a:r>
              <a:rPr lang="en-US" sz="1700" b="1" dirty="0">
                <a:solidFill>
                  <a:srgbClr val="B79A5E"/>
                </a:solidFill>
                <a:latin typeface="Calibri" pitchFamily="34" charset="0"/>
                <a:ea typeface="Calibri" pitchFamily="34" charset="-122"/>
                <a:cs typeface="Calibri" pitchFamily="34" charset="-120"/>
              </a:rPr>
              <a:t>Facebook</a:t>
            </a:r>
            <a:endParaRPr lang="en-US" sz="1700" dirty="0"/>
          </a:p>
          <a:p>
            <a:pPr indent="0" marL="0">
              <a:buNone/>
            </a:pPr>
            <a:r>
              <a:rPr lang="en-US" sz="1300" dirty="0">
                <a:solidFill>
                  <a:srgbClr val="FFFFFF"/>
                </a:solidFill>
                <a:latin typeface="Calibri" pitchFamily="34" charset="0"/>
                <a:ea typeface="Calibri" pitchFamily="34" charset="-122"/>
                <a:cs typeface="Calibri" pitchFamily="34" charset="-120"/>
              </a:rPr>
              <a:t>facebook.com/WitsAHEAD</a:t>
            </a:r>
            <a:endParaRPr lang="en-US" sz="1700" dirty="0"/>
          </a:p>
        </p:txBody>
      </p:sp>
      <p:sp>
        <p:nvSpPr>
          <p:cNvPr id="25" name="Text 20"/>
          <p:cNvSpPr txBox="1"/>
          <p:nvPr/>
        </p:nvSpPr>
        <p:spPr>
          <a:xfrm>
            <a:off x="731520" y="5623560"/>
            <a:ext cx="10607040"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The daily briefing takes three to four minutes. Follow the channels, install the website as an app, and nothing passes you by.</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FFFF"/>
          </a:solidFill>
          <a:ln w="12700">
            <a:solidFill>
              <a:srgbClr val="FFFFFF"/>
            </a:solidFill>
            <a:prstDash val="solid"/>
          </a:ln>
        </p:spPr>
      </p:sp>
      <p:sp>
        <p:nvSpPr>
          <p:cNvPr id="3" name="Shape 1"/>
          <p:cNvSpPr/>
          <p:nvPr/>
        </p:nvSpPr>
        <p:spPr>
          <a:xfrm>
            <a:off x="0" y="923544"/>
            <a:ext cx="12188952" cy="36576"/>
          </a:xfrm>
          <a:prstGeom prst="rect">
            <a:avLst/>
          </a:prstGeom>
          <a:solidFill>
            <a:srgbClr val="B79A5E"/>
          </a:solidFill>
          <a:ln w="12700">
            <a:solidFill>
              <a:srgbClr val="B79A5E"/>
            </a:solidFill>
            <a:prstDash val="solid"/>
          </a:ln>
        </p:spPr>
      </p:sp>
      <p:pic>
        <p:nvPicPr>
          <p:cNvPr id="4" name="Image 0" descr="/Users/emmanuel_ojo/Library/CloudStorage/Dropbox/Claude Cowork/04 Grants &amp; Fellowships/Wits AHEAD Research Group/10 Website &amp; Daily Briefing/assets/wits-wsoe-lockup.png">    </p:cNvPr>
          <p:cNvPicPr>
            <a:picLocks noChangeAspect="1"/>
          </p:cNvPicPr>
          <p:nvPr/>
        </p:nvPicPr>
        <p:blipFill>
          <a:blip r:embed="rId2"/>
          <a:stretch>
            <a:fillRect/>
          </a:stretch>
        </p:blipFill>
        <p:spPr>
          <a:xfrm>
            <a:off x="731520" y="182880"/>
            <a:ext cx="3286461" cy="594360"/>
          </a:xfrm>
          <a:prstGeom prst="rect">
            <a:avLst/>
          </a:prstGeom>
        </p:spPr>
      </p:pic>
      <p:sp>
        <p:nvSpPr>
          <p:cNvPr id="5" name="Shape 2"/>
          <p:cNvSpPr/>
          <p:nvPr/>
        </p:nvSpPr>
        <p:spPr>
          <a:xfrm>
            <a:off x="4343400" y="182880"/>
            <a:ext cx="13716" cy="594360"/>
          </a:xfrm>
          <a:prstGeom prst="rect">
            <a:avLst/>
          </a:prstGeom>
          <a:solidFill>
            <a:srgbClr val="003B5C">
              <a:alpha val="50000"/>
            </a:srgbClr>
          </a:solidFill>
          <a:ln w="12700">
            <a:solidFill>
              <a:srgbClr val="003B5C">
                <a:alpha val="50000"/>
              </a:srgbClr>
            </a:solidFill>
            <a:prstDash val="solid"/>
          </a:ln>
        </p:spPr>
      </p:sp>
      <p:pic>
        <p:nvPicPr>
          <p:cNvPr id="6" name="Image 1" descr="/Users/emmanuel_ojo/Library/CloudStorage/Dropbox/Claude Cowork/04 Grants &amp; Fellowships/Wits AHEAD Research Group/10 Website &amp; Daily Briefing/site/assets/logo-600.png">    </p:cNvPr>
          <p:cNvPicPr>
            <a:picLocks noChangeAspect="1"/>
          </p:cNvPicPr>
          <p:nvPr/>
        </p:nvPicPr>
        <p:blipFill>
          <a:blip r:embed="rId3"/>
          <a:stretch>
            <a:fillRect/>
          </a:stretch>
        </p:blipFill>
        <p:spPr>
          <a:xfrm>
            <a:off x="4526280" y="182880"/>
            <a:ext cx="594360" cy="594360"/>
          </a:xfrm>
          <a:prstGeom prst="rect">
            <a:avLst/>
          </a:prstGeom>
        </p:spPr>
      </p:pic>
      <p:sp>
        <p:nvSpPr>
          <p:cNvPr id="7" name="Text 3"/>
          <p:cNvSpPr txBox="1"/>
          <p:nvPr/>
        </p:nvSpPr>
        <p:spPr>
          <a:xfrm>
            <a:off x="5257800" y="109728"/>
            <a:ext cx="4206240" cy="777240"/>
          </a:xfrm>
          <a:prstGeom prst="rect">
            <a:avLst/>
          </a:prstGeom>
          <a:noFill/>
          <a:ln/>
        </p:spPr>
        <p:txBody>
          <a:bodyPr wrap="square" lIns="0" tIns="0" rIns="0" bIns="0" rtlCol="0" anchor="ctr"/>
          <a:lstStyle/>
          <a:p>
            <a:pPr indent="0" marL="0">
              <a:lnSpc>
                <a:spcPct val="95000"/>
              </a:lnSpc>
              <a:buNone/>
            </a:pPr>
            <a:r>
              <a:rPr lang="en-US" sz="900" b="1" spc="600" kern="0" dirty="0">
                <a:solidFill>
                  <a:srgbClr val="B79A5E"/>
                </a:solidFill>
                <a:latin typeface="Calibri" pitchFamily="34" charset="0"/>
                <a:ea typeface="Calibri" pitchFamily="34" charset="-122"/>
                <a:cs typeface="Calibri" pitchFamily="34" charset="-120"/>
              </a:rPr>
              <a:t>WITS</a:t>
            </a:r>
            <a:endParaRPr lang="en-US" sz="900" dirty="0"/>
          </a:p>
          <a:p>
            <a:pPr indent="0" marL="0">
              <a:lnSpc>
                <a:spcPct val="95000"/>
              </a:lnSpc>
              <a:buNone/>
            </a:pPr>
            <a:r>
              <a:rPr lang="en-US" sz="2400" b="1" dirty="0">
                <a:solidFill>
                  <a:srgbClr val="003B5C"/>
                </a:solidFill>
                <a:latin typeface="Calibri" pitchFamily="34" charset="0"/>
                <a:ea typeface="Calibri" pitchFamily="34" charset="-122"/>
                <a:cs typeface="Calibri" pitchFamily="34" charset="-120"/>
              </a:rPr>
              <a:t>AHEAD</a:t>
            </a:r>
            <a:endParaRPr lang="en-US" sz="900" dirty="0"/>
          </a:p>
          <a:p>
            <a:pPr indent="0" marL="0">
              <a:lnSpc>
                <a:spcPct val="95000"/>
              </a:lnSpc>
              <a:buNone/>
            </a:pPr>
            <a:r>
              <a:rPr lang="en-US" sz="850" dirty="0">
                <a:solidFill>
                  <a:srgbClr val="333333"/>
                </a:solidFill>
                <a:latin typeface="Calibri" pitchFamily="34" charset="0"/>
                <a:ea typeface="Calibri" pitchFamily="34" charset="-122"/>
                <a:cs typeface="Calibri" pitchFamily="34" charset="-120"/>
              </a:rPr>
              <a:t>Research Group for Advancing Human Capabilities through Education, Analytics and Development</a:t>
            </a:r>
            <a:endParaRPr lang="en-US" sz="900" dirty="0"/>
          </a:p>
        </p:txBody>
      </p:sp>
      <p:sp>
        <p:nvSpPr>
          <p:cNvPr id="9" name="Text 4"/>
          <p:cNvSpPr txBox="1"/>
          <p:nvPr/>
        </p:nvSpPr>
        <p:spPr>
          <a:xfrm>
            <a:off x="731520" y="1325880"/>
            <a:ext cx="9601200" cy="320040"/>
          </a:xfrm>
          <a:prstGeom prst="rect">
            <a:avLst/>
          </a:prstGeom>
          <a:noFill/>
          <a:ln/>
        </p:spPr>
        <p:txBody>
          <a:bodyPr wrap="square" lIns="0" tIns="0" rIns="0" bIns="0" rtlCol="0" anchor="ctr"/>
          <a:lstStyle/>
          <a:p>
            <a:pPr indent="0" marL="0">
              <a:buNone/>
            </a:pPr>
            <a:r>
              <a:rPr lang="en-US" sz="1200" b="1" spc="400" kern="0" dirty="0">
                <a:solidFill>
                  <a:srgbClr val="B79A5E"/>
                </a:solidFill>
                <a:latin typeface="Calibri" pitchFamily="34" charset="0"/>
                <a:ea typeface="Calibri" pitchFamily="34" charset="-122"/>
                <a:cs typeface="Calibri" pitchFamily="34" charset="-120"/>
              </a:rPr>
              <a:t>THIS WEEK</a:t>
            </a:r>
            <a:endParaRPr lang="en-US" sz="1200" dirty="0"/>
          </a:p>
        </p:txBody>
      </p:sp>
      <p:sp>
        <p:nvSpPr>
          <p:cNvPr id="10" name="Text 5"/>
          <p:cNvSpPr txBox="1"/>
          <p:nvPr/>
        </p:nvSpPr>
        <p:spPr>
          <a:xfrm>
            <a:off x="10177272" y="6400800"/>
            <a:ext cx="1280160" cy="274320"/>
          </a:xfrm>
          <a:prstGeom prst="rect">
            <a:avLst/>
          </a:prstGeom>
          <a:noFill/>
          <a:ln/>
        </p:spPr>
        <p:txBody>
          <a:bodyPr wrap="square" lIns="0" tIns="0" rIns="0" bIns="0" rtlCol="0" anchor="ctr"/>
          <a:lstStyle/>
          <a:p>
            <a:pPr algn="r" indent="0" marL="0">
              <a:buNone/>
            </a:pPr>
            <a:r>
              <a:rPr lang="en-US" sz="1000" dirty="0">
                <a:solidFill>
                  <a:srgbClr val="B8CBDA"/>
                </a:solidFill>
                <a:latin typeface="Calibri" pitchFamily="34" charset="0"/>
                <a:ea typeface="Calibri" pitchFamily="34" charset="-122"/>
                <a:cs typeface="Calibri" pitchFamily="34" charset="-120"/>
              </a:rPr>
              <a:t>15 / 16</a:t>
            </a:r>
            <a:endParaRPr lang="en-US" sz="1000" dirty="0"/>
          </a:p>
        </p:txBody>
      </p:sp>
      <p:sp>
        <p:nvSpPr>
          <p:cNvPr id="11" name="Text 6"/>
          <p:cNvSpPr txBox="1"/>
          <p:nvPr/>
        </p:nvSpPr>
        <p:spPr>
          <a:xfrm>
            <a:off x="731520" y="1618488"/>
            <a:ext cx="10607040" cy="91440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Four things to do before the launch meeting</a:t>
            </a:r>
            <a:endParaRPr lang="en-US" sz="3400" dirty="0"/>
          </a:p>
        </p:txBody>
      </p:sp>
      <p:sp>
        <p:nvSpPr>
          <p:cNvPr id="12" name="Shape 7"/>
          <p:cNvSpPr/>
          <p:nvPr/>
        </p:nvSpPr>
        <p:spPr>
          <a:xfrm>
            <a:off x="731520" y="2532888"/>
            <a:ext cx="731520" cy="45720"/>
          </a:xfrm>
          <a:prstGeom prst="rect">
            <a:avLst/>
          </a:prstGeom>
          <a:solidFill>
            <a:srgbClr val="B79A5E"/>
          </a:solidFill>
          <a:ln w="12700">
            <a:solidFill>
              <a:srgbClr val="B79A5E"/>
            </a:solidFill>
            <a:prstDash val="solid"/>
          </a:ln>
        </p:spPr>
      </p:sp>
      <p:sp>
        <p:nvSpPr>
          <p:cNvPr id="13" name="Text 8"/>
          <p:cNvSpPr txBox="1"/>
          <p:nvPr/>
        </p:nvSpPr>
        <p:spPr>
          <a:xfrm>
            <a:off x="731520" y="2743200"/>
            <a:ext cx="10607040" cy="3840480"/>
          </a:xfrm>
          <a:prstGeom prst="rect">
            <a:avLst/>
          </a:prstGeom>
          <a:noFill/>
          <a:ln/>
        </p:spPr>
        <p:txBody>
          <a:bodyPr wrap="square" lIns="0" tIns="0" rIns="0" bIns="0" rtlCol="0" anchor="t"/>
          <a:lstStyle/>
          <a:p>
            <a:pPr marL="342900" indent="-342900">
              <a:lnSpc>
                <a:spcPct val="115000"/>
              </a:lnSpc>
              <a:spcAft>
                <a:spcPts val="1400"/>
              </a:spcAft>
              <a:buSzPct val="100000"/>
              <a:buFont typeface="+mj-lt"/>
              <a:buAutoNum type="arabicPeriod" startAt="1"/>
            </a:pPr>
            <a:r>
              <a:rPr lang="en-US" sz="2000" dirty="0">
                <a:solidFill>
                  <a:srgbClr val="EAF1F7"/>
                </a:solidFill>
                <a:latin typeface="Calibri" pitchFamily="34" charset="0"/>
                <a:ea typeface="Calibri" pitchFamily="34" charset="-122"/>
                <a:cs typeface="Calibri" pitchFamily="34" charset="-120"/>
              </a:rPr>
              <a:t>Install Pathway on your phone, bookmark it, and sign in with your code.</a:t>
            </a:r>
            <a:endParaRPr lang="en-US" sz="2000" dirty="0"/>
          </a:p>
          <a:p>
            <a:pPr marL="342900" indent="-342900">
              <a:lnSpc>
                <a:spcPct val="115000"/>
              </a:lnSpc>
              <a:spcAft>
                <a:spcPts val="1400"/>
              </a:spcAft>
              <a:buSzPct val="100000"/>
              <a:buFont typeface="+mj-lt"/>
              <a:buAutoNum type="arabicPeriod" startAt="1"/>
            </a:pPr>
            <a:r>
              <a:rPr lang="en-US" sz="2000" dirty="0">
                <a:solidFill>
                  <a:srgbClr val="EAF1F7"/>
                </a:solidFill>
                <a:latin typeface="Calibri" pitchFamily="34" charset="0"/>
                <a:ea typeface="Calibri" pitchFamily="34" charset="-122"/>
                <a:cs typeface="Calibri" pitchFamily="34" charset="-120"/>
              </a:rPr>
              <a:t>Turn on notifications in the app.</a:t>
            </a:r>
            <a:endParaRPr lang="en-US" sz="2000" dirty="0"/>
          </a:p>
          <a:p>
            <a:pPr marL="342900" indent="-342900">
              <a:lnSpc>
                <a:spcPct val="115000"/>
              </a:lnSpc>
              <a:spcAft>
                <a:spcPts val="1400"/>
              </a:spcAft>
              <a:buSzPct val="100000"/>
              <a:buFont typeface="+mj-lt"/>
              <a:buAutoNum type="arabicPeriod" startAt="1"/>
            </a:pPr>
            <a:r>
              <a:rPr lang="en-US" sz="2000" dirty="0">
                <a:solidFill>
                  <a:srgbClr val="EAF1F7"/>
                </a:solidFill>
                <a:latin typeface="Calibri" pitchFamily="34" charset="0"/>
                <a:ea typeface="Calibri" pitchFamily="34" charset="-122"/>
                <a:cs typeface="Calibri" pitchFamily="34" charset="-120"/>
              </a:rPr>
              <a:t>Complete your profile and the consent statement; upload your proof of registration.</a:t>
            </a:r>
            <a:endParaRPr lang="en-US" sz="2000" dirty="0"/>
          </a:p>
          <a:p>
            <a:pPr marL="342900" indent="-342900">
              <a:lnSpc>
                <a:spcPct val="115000"/>
              </a:lnSpc>
              <a:spcAft>
                <a:spcPts val="1400"/>
              </a:spcAft>
              <a:buSzPct val="100000"/>
              <a:buFont typeface="+mj-lt"/>
              <a:buAutoNum type="arabicPeriod" startAt="1"/>
            </a:pPr>
            <a:r>
              <a:rPr lang="en-US" sz="2000" dirty="0">
                <a:solidFill>
                  <a:srgbClr val="EAF1F7"/>
                </a:solidFill>
                <a:latin typeface="Calibri" pitchFamily="34" charset="0"/>
                <a:ea typeface="Calibri" pitchFamily="34" charset="-122"/>
                <a:cs typeface="Calibri" pitchFamily="34" charset="-120"/>
              </a:rPr>
              <a:t>Upload your latest chapter or proposal, so your first round of feedback can begin.</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FFFF"/>
          </a:solidFill>
          <a:ln w="12700">
            <a:solidFill>
              <a:srgbClr val="FFFFFF"/>
            </a:solidFill>
            <a:prstDash val="solid"/>
          </a:ln>
        </p:spPr>
      </p:sp>
      <p:sp>
        <p:nvSpPr>
          <p:cNvPr id="3" name="Shape 1"/>
          <p:cNvSpPr/>
          <p:nvPr/>
        </p:nvSpPr>
        <p:spPr>
          <a:xfrm>
            <a:off x="0" y="923544"/>
            <a:ext cx="12188952" cy="36576"/>
          </a:xfrm>
          <a:prstGeom prst="rect">
            <a:avLst/>
          </a:prstGeom>
          <a:solidFill>
            <a:srgbClr val="B79A5E"/>
          </a:solidFill>
          <a:ln w="12700">
            <a:solidFill>
              <a:srgbClr val="B79A5E"/>
            </a:solidFill>
            <a:prstDash val="solid"/>
          </a:ln>
        </p:spPr>
      </p:sp>
      <p:pic>
        <p:nvPicPr>
          <p:cNvPr id="4" name="Image 0" descr="/Users/emmanuel_ojo/Library/CloudStorage/Dropbox/Claude Cowork/04 Grants &amp; Fellowships/Wits AHEAD Research Group/10 Website &amp; Daily Briefing/assets/wits-wsoe-lockup.png">    </p:cNvPr>
          <p:cNvPicPr>
            <a:picLocks noChangeAspect="1"/>
          </p:cNvPicPr>
          <p:nvPr/>
        </p:nvPicPr>
        <p:blipFill>
          <a:blip r:embed="rId2"/>
          <a:stretch>
            <a:fillRect/>
          </a:stretch>
        </p:blipFill>
        <p:spPr>
          <a:xfrm>
            <a:off x="731520" y="182880"/>
            <a:ext cx="3286461" cy="594360"/>
          </a:xfrm>
          <a:prstGeom prst="rect">
            <a:avLst/>
          </a:prstGeom>
        </p:spPr>
      </p:pic>
      <p:sp>
        <p:nvSpPr>
          <p:cNvPr id="5" name="Shape 2"/>
          <p:cNvSpPr/>
          <p:nvPr/>
        </p:nvSpPr>
        <p:spPr>
          <a:xfrm>
            <a:off x="4343400" y="182880"/>
            <a:ext cx="13716" cy="594360"/>
          </a:xfrm>
          <a:prstGeom prst="rect">
            <a:avLst/>
          </a:prstGeom>
          <a:solidFill>
            <a:srgbClr val="003B5C">
              <a:alpha val="50000"/>
            </a:srgbClr>
          </a:solidFill>
          <a:ln w="12700">
            <a:solidFill>
              <a:srgbClr val="003B5C">
                <a:alpha val="50000"/>
              </a:srgbClr>
            </a:solidFill>
            <a:prstDash val="solid"/>
          </a:ln>
        </p:spPr>
      </p:sp>
      <p:pic>
        <p:nvPicPr>
          <p:cNvPr id="6" name="Image 1" descr="/Users/emmanuel_ojo/Library/CloudStorage/Dropbox/Claude Cowork/04 Grants &amp; Fellowships/Wits AHEAD Research Group/10 Website &amp; Daily Briefing/site/assets/logo-600.png">    </p:cNvPr>
          <p:cNvPicPr>
            <a:picLocks noChangeAspect="1"/>
          </p:cNvPicPr>
          <p:nvPr/>
        </p:nvPicPr>
        <p:blipFill>
          <a:blip r:embed="rId3"/>
          <a:stretch>
            <a:fillRect/>
          </a:stretch>
        </p:blipFill>
        <p:spPr>
          <a:xfrm>
            <a:off x="4526280" y="182880"/>
            <a:ext cx="594360" cy="594360"/>
          </a:xfrm>
          <a:prstGeom prst="rect">
            <a:avLst/>
          </a:prstGeom>
        </p:spPr>
      </p:pic>
      <p:sp>
        <p:nvSpPr>
          <p:cNvPr id="7" name="Text 3"/>
          <p:cNvSpPr txBox="1"/>
          <p:nvPr/>
        </p:nvSpPr>
        <p:spPr>
          <a:xfrm>
            <a:off x="5257800" y="109728"/>
            <a:ext cx="4206240" cy="777240"/>
          </a:xfrm>
          <a:prstGeom prst="rect">
            <a:avLst/>
          </a:prstGeom>
          <a:noFill/>
          <a:ln/>
        </p:spPr>
        <p:txBody>
          <a:bodyPr wrap="square" lIns="0" tIns="0" rIns="0" bIns="0" rtlCol="0" anchor="ctr"/>
          <a:lstStyle/>
          <a:p>
            <a:pPr indent="0" marL="0">
              <a:lnSpc>
                <a:spcPct val="95000"/>
              </a:lnSpc>
              <a:buNone/>
            </a:pPr>
            <a:r>
              <a:rPr lang="en-US" sz="900" b="1" spc="600" kern="0" dirty="0">
                <a:solidFill>
                  <a:srgbClr val="B79A5E"/>
                </a:solidFill>
                <a:latin typeface="Calibri" pitchFamily="34" charset="0"/>
                <a:ea typeface="Calibri" pitchFamily="34" charset="-122"/>
                <a:cs typeface="Calibri" pitchFamily="34" charset="-120"/>
              </a:rPr>
              <a:t>WITS</a:t>
            </a:r>
            <a:endParaRPr lang="en-US" sz="900" dirty="0"/>
          </a:p>
          <a:p>
            <a:pPr indent="0" marL="0">
              <a:lnSpc>
                <a:spcPct val="95000"/>
              </a:lnSpc>
              <a:buNone/>
            </a:pPr>
            <a:r>
              <a:rPr lang="en-US" sz="2400" b="1" dirty="0">
                <a:solidFill>
                  <a:srgbClr val="003B5C"/>
                </a:solidFill>
                <a:latin typeface="Calibri" pitchFamily="34" charset="0"/>
                <a:ea typeface="Calibri" pitchFamily="34" charset="-122"/>
                <a:cs typeface="Calibri" pitchFamily="34" charset="-120"/>
              </a:rPr>
              <a:t>AHEAD</a:t>
            </a:r>
            <a:endParaRPr lang="en-US" sz="900" dirty="0"/>
          </a:p>
          <a:p>
            <a:pPr indent="0" marL="0">
              <a:lnSpc>
                <a:spcPct val="95000"/>
              </a:lnSpc>
              <a:buNone/>
            </a:pPr>
            <a:r>
              <a:rPr lang="en-US" sz="850" dirty="0">
                <a:solidFill>
                  <a:srgbClr val="333333"/>
                </a:solidFill>
                <a:latin typeface="Calibri" pitchFamily="34" charset="0"/>
                <a:ea typeface="Calibri" pitchFamily="34" charset="-122"/>
                <a:cs typeface="Calibri" pitchFamily="34" charset="-120"/>
              </a:rPr>
              <a:t>Research Group for Advancing Human Capabilities through Education, Analytics and Development</a:t>
            </a:r>
            <a:endParaRPr lang="en-US" sz="900" dirty="0"/>
          </a:p>
        </p:txBody>
      </p:sp>
      <p:sp>
        <p:nvSpPr>
          <p:cNvPr id="9" name="Text 4"/>
          <p:cNvSpPr txBox="1"/>
          <p:nvPr/>
        </p:nvSpPr>
        <p:spPr>
          <a:xfrm>
            <a:off x="731520" y="1783080"/>
            <a:ext cx="8229600" cy="365760"/>
          </a:xfrm>
          <a:prstGeom prst="rect">
            <a:avLst/>
          </a:prstGeom>
          <a:noFill/>
          <a:ln/>
        </p:spPr>
        <p:txBody>
          <a:bodyPr wrap="square" lIns="0" tIns="0" rIns="0" bIns="0" rtlCol="0" anchor="ctr"/>
          <a:lstStyle/>
          <a:p>
            <a:pPr indent="0" marL="0">
              <a:buNone/>
            </a:pPr>
            <a:r>
              <a:rPr lang="en-US" sz="1200" b="1" spc="400" kern="0" dirty="0">
                <a:solidFill>
                  <a:srgbClr val="B79A5E"/>
                </a:solidFill>
                <a:latin typeface="Calibri" pitchFamily="34" charset="0"/>
                <a:ea typeface="Calibri" pitchFamily="34" charset="-122"/>
                <a:cs typeface="Calibri" pitchFamily="34" charset="-120"/>
              </a:rPr>
              <a:t>RESEARCH GROUP · WITS SCHOOL OF EDUCATION</a:t>
            </a:r>
            <a:endParaRPr lang="en-US" sz="1200" dirty="0"/>
          </a:p>
        </p:txBody>
      </p:sp>
      <p:sp>
        <p:nvSpPr>
          <p:cNvPr id="10" name="Text 5"/>
          <p:cNvSpPr txBox="1"/>
          <p:nvPr/>
        </p:nvSpPr>
        <p:spPr>
          <a:xfrm>
            <a:off x="731520" y="2194560"/>
            <a:ext cx="9144000" cy="137160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Welcome to the front row</a:t>
            </a:r>
            <a:endParaRPr lang="en-US" sz="6000" dirty="0"/>
          </a:p>
        </p:txBody>
      </p:sp>
      <p:sp>
        <p:nvSpPr>
          <p:cNvPr id="11" name="Text 6"/>
          <p:cNvSpPr txBox="1"/>
          <p:nvPr/>
        </p:nvSpPr>
        <p:spPr>
          <a:xfrm>
            <a:off x="731520" y="3611880"/>
            <a:ext cx="9144000" cy="731520"/>
          </a:xfrm>
          <a:prstGeom prst="rect">
            <a:avLst/>
          </a:prstGeom>
          <a:noFill/>
          <a:ln/>
        </p:spPr>
        <p:txBody>
          <a:bodyPr wrap="square" lIns="0" tIns="0" rIns="0" bIns="0" rtlCol="0" anchor="ctr"/>
          <a:lstStyle/>
          <a:p>
            <a:pPr indent="0" marL="0">
              <a:buNone/>
            </a:pPr>
            <a:r>
              <a:rPr lang="en-US" sz="2800" dirty="0">
                <a:solidFill>
                  <a:srgbClr val="B8CBDA"/>
                </a:solidFill>
                <a:latin typeface="Calibri" pitchFamily="34" charset="0"/>
                <a:ea typeface="Calibri" pitchFamily="34" charset="-122"/>
                <a:cs typeface="Calibri" pitchFamily="34" charset="-120"/>
              </a:rPr>
              <a:t>pathway.witsahead.org · www.witsahead.org</a:t>
            </a:r>
            <a:endParaRPr lang="en-US" sz="2800" dirty="0"/>
          </a:p>
        </p:txBody>
      </p:sp>
      <p:sp>
        <p:nvSpPr>
          <p:cNvPr id="12" name="Text 7"/>
          <p:cNvSpPr txBox="1"/>
          <p:nvPr/>
        </p:nvSpPr>
        <p:spPr>
          <a:xfrm>
            <a:off x="731520" y="5943600"/>
            <a:ext cx="8686800" cy="457200"/>
          </a:xfrm>
          <a:prstGeom prst="rect">
            <a:avLst/>
          </a:prstGeom>
          <a:noFill/>
          <a:ln/>
        </p:spPr>
        <p:txBody>
          <a:bodyPr wrap="square" lIns="0" tIns="0" rIns="0" bIns="0" rtlCol="0" anchor="ctr"/>
          <a:lstStyle/>
          <a:p>
            <a:pPr indent="0" marL="0">
              <a:buNone/>
            </a:pPr>
            <a:r>
              <a:rPr lang="en-US" sz="1200" dirty="0">
                <a:solidFill>
                  <a:srgbClr val="B8CBDA"/>
                </a:solidFill>
                <a:latin typeface="Calibri" pitchFamily="34" charset="0"/>
                <a:ea typeface="Calibri" pitchFamily="34" charset="-122"/>
                <a:cs typeface="Calibri" pitchFamily="34" charset="-120"/>
              </a:rPr>
              <a:t>Questions: Director@WitsAHEAD.org · The platform is improved every week; tell us what would help you.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Wits School of Education, University of the Witwatersrand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AHEAD Pathway: your new supervision experience</dc:title>
  <dc:subject>PptxGenJS Presentation</dc:subject>
  <dc:creator>Wits AHEAD Research Group</dc:creator>
  <cp:lastModifiedBy>Wits AHEAD Research Group</cp:lastModifiedBy>
  <cp:revision>1</cp:revision>
  <dcterms:created xsi:type="dcterms:W3CDTF">2026-09-20T09:11:49Z</dcterms:created>
  <dcterms:modified xsi:type="dcterms:W3CDTF">2026-09-20T09:11:49Z</dcterms:modified>
</cp:coreProperties>
</file>